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64" r:id="rId2"/>
    <p:sldId id="261" r:id="rId3"/>
    <p:sldId id="257" r:id="rId4"/>
    <p:sldId id="256" r:id="rId5"/>
    <p:sldId id="263" r:id="rId6"/>
    <p:sldId id="260" r:id="rId7"/>
    <p:sldId id="258" r:id="rId8"/>
    <p:sldId id="262" r:id="rId9"/>
    <p:sldId id="259" r:id="rId10"/>
    <p:sldId id="265" r:id="rId11"/>
    <p:sldId id="271" r:id="rId12"/>
    <p:sldId id="272" r:id="rId13"/>
    <p:sldId id="273" r:id="rId14"/>
    <p:sldId id="266" r:id="rId15"/>
    <p:sldId id="267" r:id="rId16"/>
    <p:sldId id="268" r:id="rId17"/>
    <p:sldId id="269" r:id="rId18"/>
    <p:sldId id="270" r:id="rId1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3020" autoAdjust="0"/>
  </p:normalViewPr>
  <p:slideViewPr>
    <p:cSldViewPr snapToGrid="0">
      <p:cViewPr>
        <p:scale>
          <a:sx n="66" d="100"/>
          <a:sy n="66" d="100"/>
        </p:scale>
        <p:origin x="668" y="-2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06BC35-8A0B-4A1F-8365-5DCF7185DC00}" type="datetimeFigureOut">
              <a:rPr lang="fr-FR" smtClean="0"/>
              <a:t>10/06/2025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78F70B-0313-488A-859A-604A97830DE2}" type="slidenum">
              <a:rPr lang="fr-FR" smtClean="0"/>
              <a:t>‹N°›</a:t>
            </a:fld>
            <a:endParaRPr lang="fr-FR"/>
          </a:p>
        </p:txBody>
      </p:sp>
    </p:spTree>
    <p:extLst>
      <p:ext uri="{BB962C8B-B14F-4D97-AF65-F5344CB8AC3E}">
        <p14:creationId xmlns:p14="http://schemas.microsoft.com/office/powerpoint/2010/main" val="35212722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200" b="0" i="0" u="none" strike="noStrike" cap="none" normalizeH="0" baseline="0" dirty="0">
                <a:ln>
                  <a:noFill/>
                </a:ln>
                <a:solidFill>
                  <a:schemeClr val="tx1"/>
                </a:solidFill>
                <a:effectLst/>
                <a:latin typeface="Arial" panose="020B0604020202020204" pitchFamily="34" charset="0"/>
              </a:rPr>
              <a:t>Chaque histogramme montre la distribution des valeurs pour une caractéristique spécifique (par exemple, </a:t>
            </a:r>
            <a:r>
              <a:rPr kumimoji="0" lang="fr-FR" altLang="fr-FR" sz="1200" b="0" i="0" u="none" strike="noStrike" cap="none" normalizeH="0" baseline="0" dirty="0" err="1">
                <a:ln>
                  <a:noFill/>
                </a:ln>
                <a:solidFill>
                  <a:schemeClr val="tx1"/>
                </a:solidFill>
                <a:effectLst/>
                <a:latin typeface="Arial Unicode MS"/>
              </a:rPr>
              <a:t>sepal_length</a:t>
            </a:r>
            <a:r>
              <a:rPr kumimoji="0" lang="fr-FR" altLang="fr-FR" sz="1200" b="0" i="0" u="none" strike="noStrike" cap="none" normalizeH="0" baseline="0" dirty="0">
                <a:ln>
                  <a:noFill/>
                </a:ln>
                <a:solidFill>
                  <a:schemeClr val="tx1"/>
                </a:solidFill>
                <a:effectLst/>
              </a:rPr>
              <a:t>, </a:t>
            </a:r>
            <a:r>
              <a:rPr kumimoji="0" lang="fr-FR" altLang="fr-FR" sz="1200" b="0" i="0" u="none" strike="noStrike" cap="none" normalizeH="0" baseline="0" dirty="0" err="1">
                <a:ln>
                  <a:noFill/>
                </a:ln>
                <a:solidFill>
                  <a:schemeClr val="tx1"/>
                </a:solidFill>
                <a:effectLst/>
                <a:latin typeface="Arial Unicode MS"/>
              </a:rPr>
              <a:t>sepal_width</a:t>
            </a:r>
            <a:r>
              <a:rPr kumimoji="0" lang="fr-FR" altLang="fr-FR" sz="1200" b="0" i="0" u="none" strike="noStrike" cap="none" normalizeH="0" baseline="0" dirty="0">
                <a:ln>
                  <a:noFill/>
                </a:ln>
                <a:solidFill>
                  <a:schemeClr val="tx1"/>
                </a:solidFill>
                <a:effectLst/>
              </a:rPr>
              <a:t>, etc.).</a:t>
            </a:r>
            <a:r>
              <a:rPr kumimoji="0" lang="fr-FR" altLang="fr-FR" sz="12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200" b="0" i="0" u="none" strike="noStrike" cap="none" normalizeH="0" baseline="0" dirty="0">
                <a:ln>
                  <a:noFill/>
                </a:ln>
                <a:solidFill>
                  <a:schemeClr val="tx1"/>
                </a:solidFill>
                <a:effectLst/>
                <a:latin typeface="Arial" panose="020B0604020202020204" pitchFamily="34" charset="0"/>
              </a:rPr>
              <a:t>Vous pouvez observer la distribution des valeurs, comme la normalité, la </a:t>
            </a:r>
            <a:r>
              <a:rPr kumimoji="0" lang="fr-FR" altLang="fr-FR" sz="1200" b="0" i="0" u="none" strike="noStrike" cap="none" normalizeH="0" baseline="0" dirty="0" err="1">
                <a:ln>
                  <a:noFill/>
                </a:ln>
                <a:solidFill>
                  <a:schemeClr val="tx1"/>
                </a:solidFill>
                <a:effectLst/>
                <a:latin typeface="Arial" panose="020B0604020202020204" pitchFamily="34" charset="0"/>
              </a:rPr>
              <a:t>skewness</a:t>
            </a:r>
            <a:r>
              <a:rPr kumimoji="0" lang="fr-FR" altLang="fr-FR" sz="1200" b="0" i="0" u="none" strike="noStrike" cap="none" normalizeH="0" baseline="0" dirty="0">
                <a:ln>
                  <a:noFill/>
                </a:ln>
                <a:solidFill>
                  <a:schemeClr val="tx1"/>
                </a:solidFill>
                <a:effectLst/>
                <a:latin typeface="Arial" panose="020B0604020202020204" pitchFamily="34" charset="0"/>
              </a:rPr>
              <a:t> (asymétrie), et identifier les valeurs aberrantes potentielles.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200" b="0" i="0" u="none" strike="noStrike" cap="none" normalizeH="0" baseline="0" dirty="0">
                <a:ln>
                  <a:noFill/>
                </a:ln>
                <a:solidFill>
                  <a:schemeClr val="tx1"/>
                </a:solidFill>
                <a:effectLst/>
                <a:latin typeface="Arial" panose="020B0604020202020204" pitchFamily="34" charset="0"/>
              </a:rPr>
              <a:t>Par exemple, si l'histogramme de </a:t>
            </a:r>
            <a:r>
              <a:rPr kumimoji="0" lang="fr-FR" altLang="fr-FR" sz="1200" b="0" i="0" u="none" strike="noStrike" cap="none" normalizeH="0" baseline="0" dirty="0" err="1">
                <a:ln>
                  <a:noFill/>
                </a:ln>
                <a:solidFill>
                  <a:schemeClr val="tx1"/>
                </a:solidFill>
                <a:effectLst/>
                <a:latin typeface="Arial Unicode MS"/>
              </a:rPr>
              <a:t>sepal_length</a:t>
            </a:r>
            <a:r>
              <a:rPr kumimoji="0" lang="fr-FR" altLang="fr-FR" sz="1200" b="0" i="0" u="none" strike="noStrike" cap="none" normalizeH="0" baseline="0" dirty="0">
                <a:ln>
                  <a:noFill/>
                </a:ln>
                <a:solidFill>
                  <a:schemeClr val="tx1"/>
                </a:solidFill>
                <a:effectLst/>
              </a:rPr>
              <a:t> est symétrique et centré autour d'une valeur moyenne, cela indique une distribution normale.</a:t>
            </a:r>
            <a:r>
              <a:rPr kumimoji="0" lang="fr-FR" altLang="fr-FR" sz="1200" b="0" i="0" u="none" strike="noStrike" cap="none" normalizeH="0" baseline="0" dirty="0">
                <a:ln>
                  <a:noFill/>
                </a:ln>
                <a:solidFill>
                  <a:schemeClr val="tx1"/>
                </a:solidFill>
                <a:effectLst/>
                <a:latin typeface="Arial" panose="020B0604020202020204" pitchFamily="34" charset="0"/>
              </a:rPr>
              <a:t> </a:t>
            </a:r>
          </a:p>
        </p:txBody>
      </p:sp>
      <p:sp>
        <p:nvSpPr>
          <p:cNvPr id="4" name="Espace réservé du numéro de diapositive 3"/>
          <p:cNvSpPr>
            <a:spLocks noGrp="1"/>
          </p:cNvSpPr>
          <p:nvPr>
            <p:ph type="sldNum" sz="quarter" idx="5"/>
          </p:nvPr>
        </p:nvSpPr>
        <p:spPr/>
        <p:txBody>
          <a:bodyPr/>
          <a:lstStyle/>
          <a:p>
            <a:fld id="{CA78F70B-0313-488A-859A-604A97830DE2}" type="slidenum">
              <a:rPr lang="fr-FR" smtClean="0"/>
              <a:t>4</a:t>
            </a:fld>
            <a:endParaRPr lang="fr-FR"/>
          </a:p>
        </p:txBody>
      </p:sp>
    </p:spTree>
    <p:extLst>
      <p:ext uri="{BB962C8B-B14F-4D97-AF65-F5344CB8AC3E}">
        <p14:creationId xmlns:p14="http://schemas.microsoft.com/office/powerpoint/2010/main" val="40121247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71450" indent="-171450">
              <a:buFont typeface="Arial" panose="020B0604020202020204" pitchFamily="34" charset="0"/>
              <a:buChar char="•"/>
            </a:pPr>
            <a:r>
              <a:rPr lang="fr-FR" dirty="0"/>
              <a:t>Le diagramme de dispersion montre la relation entre </a:t>
            </a:r>
            <a:r>
              <a:rPr lang="fr-FR" dirty="0" err="1"/>
              <a:t>sepal_length</a:t>
            </a:r>
            <a:r>
              <a:rPr lang="fr-FR" dirty="0"/>
              <a:t> et </a:t>
            </a:r>
            <a:r>
              <a:rPr lang="fr-FR" dirty="0" err="1"/>
              <a:t>sepal_width</a:t>
            </a:r>
            <a:r>
              <a:rPr lang="fr-FR" dirty="0"/>
              <a:t>.</a:t>
            </a:r>
          </a:p>
          <a:p>
            <a:pPr marL="171450" indent="-171450">
              <a:buFont typeface="Arial" panose="020B0604020202020204" pitchFamily="34" charset="0"/>
              <a:buChar char="•"/>
            </a:pPr>
            <a:r>
              <a:rPr lang="fr-FR" dirty="0"/>
              <a:t>La couleur des points représente la classe (class), ce qui permet de visualiser comment les différentes classes se regroupent ou se séparent dans l'espace de ces deux caractéristiques.</a:t>
            </a:r>
          </a:p>
          <a:p>
            <a:pPr marL="171450" indent="-171450">
              <a:buFont typeface="Arial" panose="020B0604020202020204" pitchFamily="34" charset="0"/>
              <a:buChar char="•"/>
            </a:pPr>
            <a:r>
              <a:rPr lang="fr-FR" dirty="0"/>
              <a:t>Vous pouvez identifier des motifs ou des tendances, comme des corrélations positives ou négatives entre les caractéristiques.</a:t>
            </a:r>
          </a:p>
          <a:p>
            <a:pPr marL="171450" indent="-171450">
              <a:buFont typeface="Arial" panose="020B0604020202020204" pitchFamily="34" charset="0"/>
              <a:buChar char="•"/>
            </a:pPr>
            <a:r>
              <a:rPr lang="fr-FR" dirty="0"/>
              <a:t>Par exemple, si les points des différentes classes sont bien séparés, cela indique que ces caractéristiques peuvent être utiles pour la classification.</a:t>
            </a:r>
          </a:p>
          <a:p>
            <a:endParaRPr lang="fr-FR" dirty="0"/>
          </a:p>
        </p:txBody>
      </p:sp>
      <p:sp>
        <p:nvSpPr>
          <p:cNvPr id="4" name="Espace réservé du numéro de diapositive 3"/>
          <p:cNvSpPr>
            <a:spLocks noGrp="1"/>
          </p:cNvSpPr>
          <p:nvPr>
            <p:ph type="sldNum" sz="quarter" idx="5"/>
          </p:nvPr>
        </p:nvSpPr>
        <p:spPr/>
        <p:txBody>
          <a:bodyPr/>
          <a:lstStyle/>
          <a:p>
            <a:fld id="{CA78F70B-0313-488A-859A-604A97830DE2}" type="slidenum">
              <a:rPr lang="fr-FR" smtClean="0"/>
              <a:t>6</a:t>
            </a:fld>
            <a:endParaRPr lang="fr-FR"/>
          </a:p>
        </p:txBody>
      </p:sp>
    </p:spTree>
    <p:extLst>
      <p:ext uri="{BB962C8B-B14F-4D97-AF65-F5344CB8AC3E}">
        <p14:creationId xmlns:p14="http://schemas.microsoft.com/office/powerpoint/2010/main" val="7858830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71450" indent="-171450">
              <a:buFont typeface="Arial" panose="020B0604020202020204" pitchFamily="34" charset="0"/>
              <a:buChar char="•"/>
            </a:pPr>
            <a:r>
              <a:rPr lang="fr-FR" dirty="0"/>
              <a:t>Chaque diagramme de dispersion montre la relation entre deux caractéristiques.</a:t>
            </a:r>
          </a:p>
          <a:p>
            <a:pPr marL="171450" indent="-171450">
              <a:buFont typeface="Arial" panose="020B0604020202020204" pitchFamily="34" charset="0"/>
              <a:buChar char="•"/>
            </a:pPr>
            <a:r>
              <a:rPr lang="fr-FR" dirty="0"/>
              <a:t>La couleur des points représente la classe (class), ce qui permet de visualiser comment les différentes classes se regroupent ou se séparent dans l'espace des caractéristiques.</a:t>
            </a:r>
          </a:p>
          <a:p>
            <a:pPr marL="171450" indent="-171450">
              <a:buFont typeface="Arial" panose="020B0604020202020204" pitchFamily="34" charset="0"/>
              <a:buChar char="•"/>
            </a:pPr>
            <a:r>
              <a:rPr lang="fr-FR" dirty="0"/>
              <a:t>Vous pouvez identifier des motifs ou des tendances, comme des corrélations positives ou négatives entre les caractéristiques.</a:t>
            </a:r>
          </a:p>
          <a:p>
            <a:pPr marL="171450" indent="-171450">
              <a:buFont typeface="Arial" panose="020B0604020202020204" pitchFamily="34" charset="0"/>
              <a:buChar char="•"/>
            </a:pPr>
            <a:r>
              <a:rPr lang="fr-FR" dirty="0"/>
              <a:t>Par exemple, si les points des différentes classes sont bien séparés dans certains diagrammes, cela indique que ces caractéristiques peuvent être utiles pour la classification.</a:t>
            </a:r>
          </a:p>
          <a:p>
            <a:endParaRPr lang="fr-FR" dirty="0"/>
          </a:p>
        </p:txBody>
      </p:sp>
      <p:sp>
        <p:nvSpPr>
          <p:cNvPr id="4" name="Espace réservé du numéro de diapositive 3"/>
          <p:cNvSpPr>
            <a:spLocks noGrp="1"/>
          </p:cNvSpPr>
          <p:nvPr>
            <p:ph type="sldNum" sz="quarter" idx="5"/>
          </p:nvPr>
        </p:nvSpPr>
        <p:spPr/>
        <p:txBody>
          <a:bodyPr/>
          <a:lstStyle/>
          <a:p>
            <a:fld id="{CA78F70B-0313-488A-859A-604A97830DE2}" type="slidenum">
              <a:rPr lang="fr-FR" smtClean="0"/>
              <a:t>7</a:t>
            </a:fld>
            <a:endParaRPr lang="fr-FR"/>
          </a:p>
        </p:txBody>
      </p:sp>
    </p:spTree>
    <p:extLst>
      <p:ext uri="{BB962C8B-B14F-4D97-AF65-F5344CB8AC3E}">
        <p14:creationId xmlns:p14="http://schemas.microsoft.com/office/powerpoint/2010/main" val="24589555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71450" indent="-171450">
              <a:buFont typeface="Arial" panose="020B0604020202020204" pitchFamily="34" charset="0"/>
              <a:buChar char="•"/>
            </a:pPr>
            <a:r>
              <a:rPr lang="fr-FR" dirty="0"/>
              <a:t>La </a:t>
            </a:r>
            <a:r>
              <a:rPr lang="fr-FR" dirty="0" err="1"/>
              <a:t>heatmap</a:t>
            </a:r>
            <a:r>
              <a:rPr lang="fr-FR" dirty="0"/>
              <a:t> montre les coefficients de corrélation entre chaque paire de caractéristiques.</a:t>
            </a:r>
          </a:p>
          <a:p>
            <a:pPr marL="171450" indent="-171450">
              <a:buFont typeface="Arial" panose="020B0604020202020204" pitchFamily="34" charset="0"/>
              <a:buChar char="•"/>
            </a:pPr>
            <a:r>
              <a:rPr lang="fr-FR" dirty="0"/>
              <a:t>Les valeurs de corrélation varient de -1 à 1, où 1 indique une corrélation positive parfaite, -1 une corrélation négative parfaite, et 0 aucune corrélation.</a:t>
            </a:r>
          </a:p>
          <a:p>
            <a:pPr marL="171450" indent="-171450">
              <a:buFont typeface="Arial" panose="020B0604020202020204" pitchFamily="34" charset="0"/>
              <a:buChar char="•"/>
            </a:pPr>
            <a:r>
              <a:rPr lang="fr-FR" dirty="0"/>
              <a:t>Les couleurs dans la </a:t>
            </a:r>
            <a:r>
              <a:rPr lang="fr-FR" dirty="0" err="1"/>
              <a:t>heatmap</a:t>
            </a:r>
            <a:r>
              <a:rPr lang="fr-FR" dirty="0"/>
              <a:t> aident à visualiser rapidement les corrélations fortes (rouge pour les corrélations positives et bleu pour les corrélations négatives).</a:t>
            </a:r>
          </a:p>
          <a:p>
            <a:pPr marL="171450" indent="-171450">
              <a:buFont typeface="Arial" panose="020B0604020202020204" pitchFamily="34" charset="0"/>
              <a:buChar char="•"/>
            </a:pPr>
            <a:r>
              <a:rPr lang="fr-FR" dirty="0"/>
              <a:t>Par exemple, une forte corrélation positive entre </a:t>
            </a:r>
            <a:r>
              <a:rPr lang="fr-FR" dirty="0" err="1"/>
              <a:t>petal_length</a:t>
            </a:r>
            <a:r>
              <a:rPr lang="fr-FR" dirty="0"/>
              <a:t> et </a:t>
            </a:r>
            <a:r>
              <a:rPr lang="fr-FR" dirty="0" err="1"/>
              <a:t>petal_width</a:t>
            </a:r>
            <a:r>
              <a:rPr lang="fr-FR" dirty="0"/>
              <a:t> indique que ces deux caractéristiques augmentent ou diminuent ensemble.</a:t>
            </a:r>
          </a:p>
        </p:txBody>
      </p:sp>
      <p:sp>
        <p:nvSpPr>
          <p:cNvPr id="4" name="Espace réservé du numéro de diapositive 3"/>
          <p:cNvSpPr>
            <a:spLocks noGrp="1"/>
          </p:cNvSpPr>
          <p:nvPr>
            <p:ph type="sldNum" sz="quarter" idx="5"/>
          </p:nvPr>
        </p:nvSpPr>
        <p:spPr/>
        <p:txBody>
          <a:bodyPr/>
          <a:lstStyle/>
          <a:p>
            <a:fld id="{CA78F70B-0313-488A-859A-604A97830DE2}" type="slidenum">
              <a:rPr lang="fr-FR" smtClean="0"/>
              <a:t>9</a:t>
            </a:fld>
            <a:endParaRPr lang="fr-FR"/>
          </a:p>
        </p:txBody>
      </p:sp>
    </p:spTree>
    <p:extLst>
      <p:ext uri="{BB962C8B-B14F-4D97-AF65-F5344CB8AC3E}">
        <p14:creationId xmlns:p14="http://schemas.microsoft.com/office/powerpoint/2010/main" val="23951220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EAE21F-0E7A-38A0-ABF2-4E45C7677532}"/>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909F013D-E830-945D-A6B5-965D000DE1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1A4114CF-686A-CB60-8B02-3C3FE0945050}"/>
              </a:ext>
            </a:extLst>
          </p:cNvPr>
          <p:cNvSpPr>
            <a:spLocks noGrp="1"/>
          </p:cNvSpPr>
          <p:nvPr>
            <p:ph type="dt" sz="half" idx="10"/>
          </p:nvPr>
        </p:nvSpPr>
        <p:spPr/>
        <p:txBody>
          <a:bodyPr/>
          <a:lstStyle/>
          <a:p>
            <a:fld id="{0047E2D8-A757-4D7D-9BEA-B7429E73103A}" type="datetimeFigureOut">
              <a:rPr lang="fr-FR" smtClean="0"/>
              <a:t>10/06/2025</a:t>
            </a:fld>
            <a:endParaRPr lang="fr-FR"/>
          </a:p>
        </p:txBody>
      </p:sp>
      <p:sp>
        <p:nvSpPr>
          <p:cNvPr id="5" name="Espace réservé du pied de page 4">
            <a:extLst>
              <a:ext uri="{FF2B5EF4-FFF2-40B4-BE49-F238E27FC236}">
                <a16:creationId xmlns:a16="http://schemas.microsoft.com/office/drawing/2014/main" id="{C23E1A9A-70D3-7FEB-2457-B64AA91CCA8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D1960A1-8280-9FCD-0888-46F6F27422DA}"/>
              </a:ext>
            </a:extLst>
          </p:cNvPr>
          <p:cNvSpPr>
            <a:spLocks noGrp="1"/>
          </p:cNvSpPr>
          <p:nvPr>
            <p:ph type="sldNum" sz="quarter" idx="12"/>
          </p:nvPr>
        </p:nvSpPr>
        <p:spPr/>
        <p:txBody>
          <a:bodyPr/>
          <a:lstStyle/>
          <a:p>
            <a:fld id="{DA772EC5-DC75-4032-AACD-D1AF7E476C19}" type="slidenum">
              <a:rPr lang="fr-FR" smtClean="0"/>
              <a:t>‹N°›</a:t>
            </a:fld>
            <a:endParaRPr lang="fr-FR"/>
          </a:p>
        </p:txBody>
      </p:sp>
    </p:spTree>
    <p:extLst>
      <p:ext uri="{BB962C8B-B14F-4D97-AF65-F5344CB8AC3E}">
        <p14:creationId xmlns:p14="http://schemas.microsoft.com/office/powerpoint/2010/main" val="1838963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5F1AC6-5212-75DD-2080-9D4D8B053DBF}"/>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D200504-18DE-DB19-4EAC-6C622384FBB0}"/>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57F1E5B-99B9-D051-F2D6-DB501B8D57F9}"/>
              </a:ext>
            </a:extLst>
          </p:cNvPr>
          <p:cNvSpPr>
            <a:spLocks noGrp="1"/>
          </p:cNvSpPr>
          <p:nvPr>
            <p:ph type="dt" sz="half" idx="10"/>
          </p:nvPr>
        </p:nvSpPr>
        <p:spPr/>
        <p:txBody>
          <a:bodyPr/>
          <a:lstStyle/>
          <a:p>
            <a:fld id="{0047E2D8-A757-4D7D-9BEA-B7429E73103A}" type="datetimeFigureOut">
              <a:rPr lang="fr-FR" smtClean="0"/>
              <a:t>10/06/2025</a:t>
            </a:fld>
            <a:endParaRPr lang="fr-FR"/>
          </a:p>
        </p:txBody>
      </p:sp>
      <p:sp>
        <p:nvSpPr>
          <p:cNvPr id="5" name="Espace réservé du pied de page 4">
            <a:extLst>
              <a:ext uri="{FF2B5EF4-FFF2-40B4-BE49-F238E27FC236}">
                <a16:creationId xmlns:a16="http://schemas.microsoft.com/office/drawing/2014/main" id="{AEAE57FD-16FE-3F73-154A-1BAB0684994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6910679-EBDA-639D-C91D-35B962AA1658}"/>
              </a:ext>
            </a:extLst>
          </p:cNvPr>
          <p:cNvSpPr>
            <a:spLocks noGrp="1"/>
          </p:cNvSpPr>
          <p:nvPr>
            <p:ph type="sldNum" sz="quarter" idx="12"/>
          </p:nvPr>
        </p:nvSpPr>
        <p:spPr/>
        <p:txBody>
          <a:bodyPr/>
          <a:lstStyle/>
          <a:p>
            <a:fld id="{DA772EC5-DC75-4032-AACD-D1AF7E476C19}" type="slidenum">
              <a:rPr lang="fr-FR" smtClean="0"/>
              <a:t>‹N°›</a:t>
            </a:fld>
            <a:endParaRPr lang="fr-FR"/>
          </a:p>
        </p:txBody>
      </p:sp>
    </p:spTree>
    <p:extLst>
      <p:ext uri="{BB962C8B-B14F-4D97-AF65-F5344CB8AC3E}">
        <p14:creationId xmlns:p14="http://schemas.microsoft.com/office/powerpoint/2010/main" val="3544770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498F94D-8550-AB3B-2E95-36A5CB8316D3}"/>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AF91CE45-991E-E028-4890-D018E283D46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A1EA71E-D238-20FE-4406-7C75CDACDEE4}"/>
              </a:ext>
            </a:extLst>
          </p:cNvPr>
          <p:cNvSpPr>
            <a:spLocks noGrp="1"/>
          </p:cNvSpPr>
          <p:nvPr>
            <p:ph type="dt" sz="half" idx="10"/>
          </p:nvPr>
        </p:nvSpPr>
        <p:spPr/>
        <p:txBody>
          <a:bodyPr/>
          <a:lstStyle/>
          <a:p>
            <a:fld id="{0047E2D8-A757-4D7D-9BEA-B7429E73103A}" type="datetimeFigureOut">
              <a:rPr lang="fr-FR" smtClean="0"/>
              <a:t>10/06/2025</a:t>
            </a:fld>
            <a:endParaRPr lang="fr-FR"/>
          </a:p>
        </p:txBody>
      </p:sp>
      <p:sp>
        <p:nvSpPr>
          <p:cNvPr id="5" name="Espace réservé du pied de page 4">
            <a:extLst>
              <a:ext uri="{FF2B5EF4-FFF2-40B4-BE49-F238E27FC236}">
                <a16:creationId xmlns:a16="http://schemas.microsoft.com/office/drawing/2014/main" id="{182B51C7-3666-6B5D-3F4C-78021038DC8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E5BC0BF-B1B4-65C6-2A3F-3178FDFC16C2}"/>
              </a:ext>
            </a:extLst>
          </p:cNvPr>
          <p:cNvSpPr>
            <a:spLocks noGrp="1"/>
          </p:cNvSpPr>
          <p:nvPr>
            <p:ph type="sldNum" sz="quarter" idx="12"/>
          </p:nvPr>
        </p:nvSpPr>
        <p:spPr/>
        <p:txBody>
          <a:bodyPr/>
          <a:lstStyle/>
          <a:p>
            <a:fld id="{DA772EC5-DC75-4032-AACD-D1AF7E476C19}" type="slidenum">
              <a:rPr lang="fr-FR" smtClean="0"/>
              <a:t>‹N°›</a:t>
            </a:fld>
            <a:endParaRPr lang="fr-FR"/>
          </a:p>
        </p:txBody>
      </p:sp>
    </p:spTree>
    <p:extLst>
      <p:ext uri="{BB962C8B-B14F-4D97-AF65-F5344CB8AC3E}">
        <p14:creationId xmlns:p14="http://schemas.microsoft.com/office/powerpoint/2010/main" val="9982645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C6FBCE1-1268-A2B3-08E2-632BACD9F4E7}"/>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3F784F16-2102-BC6C-6173-4CF405F99B72}"/>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3F9EB914-11C2-528D-65BA-485BA21719E3}"/>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C4C71EA0-3444-2E80-CA83-3DE417DE25CA}"/>
              </a:ext>
            </a:extLst>
          </p:cNvPr>
          <p:cNvSpPr>
            <a:spLocks noGrp="1"/>
          </p:cNvSpPr>
          <p:nvPr>
            <p:ph type="dt" sz="half" idx="10"/>
          </p:nvPr>
        </p:nvSpPr>
        <p:spPr/>
        <p:txBody>
          <a:bodyPr/>
          <a:lstStyle/>
          <a:p>
            <a:fld id="{0047E2D8-A757-4D7D-9BEA-B7429E73103A}" type="datetimeFigureOut">
              <a:rPr lang="fr-FR" smtClean="0"/>
              <a:t>10/06/2025</a:t>
            </a:fld>
            <a:endParaRPr lang="fr-FR"/>
          </a:p>
        </p:txBody>
      </p:sp>
      <p:sp>
        <p:nvSpPr>
          <p:cNvPr id="6" name="Espace réservé du pied de page 5">
            <a:extLst>
              <a:ext uri="{FF2B5EF4-FFF2-40B4-BE49-F238E27FC236}">
                <a16:creationId xmlns:a16="http://schemas.microsoft.com/office/drawing/2014/main" id="{C540566E-4BB0-EC1C-E938-F11AF7ACD5F5}"/>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2A48A118-11B3-5020-E17D-8C53C07EBFF7}"/>
              </a:ext>
            </a:extLst>
          </p:cNvPr>
          <p:cNvSpPr>
            <a:spLocks noGrp="1"/>
          </p:cNvSpPr>
          <p:nvPr>
            <p:ph type="sldNum" sz="quarter" idx="12"/>
          </p:nvPr>
        </p:nvSpPr>
        <p:spPr/>
        <p:txBody>
          <a:bodyPr/>
          <a:lstStyle/>
          <a:p>
            <a:fld id="{DA772EC5-DC75-4032-AACD-D1AF7E476C19}" type="slidenum">
              <a:rPr lang="fr-FR" smtClean="0"/>
              <a:t>‹N°›</a:t>
            </a:fld>
            <a:endParaRPr lang="fr-FR"/>
          </a:p>
        </p:txBody>
      </p:sp>
    </p:spTree>
    <p:extLst>
      <p:ext uri="{BB962C8B-B14F-4D97-AF65-F5344CB8AC3E}">
        <p14:creationId xmlns:p14="http://schemas.microsoft.com/office/powerpoint/2010/main" val="4138389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BCA41C-412A-1DB7-DEAA-96F21DE15D14}"/>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45B9AAEE-ABC9-C518-4985-423E7C9F2F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72A57875-8CBC-62E0-7F42-636F0D1CBB9E}"/>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8C33F5A8-DC42-8547-0A76-494FCED4EF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8A861C2A-0913-554C-AFFE-EF2795E72403}"/>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6958264D-722B-DD13-2C3B-F86BD51C1205}"/>
              </a:ext>
            </a:extLst>
          </p:cNvPr>
          <p:cNvSpPr>
            <a:spLocks noGrp="1"/>
          </p:cNvSpPr>
          <p:nvPr>
            <p:ph type="dt" sz="half" idx="10"/>
          </p:nvPr>
        </p:nvSpPr>
        <p:spPr/>
        <p:txBody>
          <a:bodyPr/>
          <a:lstStyle/>
          <a:p>
            <a:fld id="{0047E2D8-A757-4D7D-9BEA-B7429E73103A}" type="datetimeFigureOut">
              <a:rPr lang="fr-FR" smtClean="0"/>
              <a:t>10/06/2025</a:t>
            </a:fld>
            <a:endParaRPr lang="fr-FR"/>
          </a:p>
        </p:txBody>
      </p:sp>
      <p:sp>
        <p:nvSpPr>
          <p:cNvPr id="8" name="Espace réservé du pied de page 7">
            <a:extLst>
              <a:ext uri="{FF2B5EF4-FFF2-40B4-BE49-F238E27FC236}">
                <a16:creationId xmlns:a16="http://schemas.microsoft.com/office/drawing/2014/main" id="{DBF3A344-B26E-CF9C-AE2A-236555D65687}"/>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FA0F5895-E15E-D4BA-1846-3547AFBE0618}"/>
              </a:ext>
            </a:extLst>
          </p:cNvPr>
          <p:cNvSpPr>
            <a:spLocks noGrp="1"/>
          </p:cNvSpPr>
          <p:nvPr>
            <p:ph type="sldNum" sz="quarter" idx="12"/>
          </p:nvPr>
        </p:nvSpPr>
        <p:spPr/>
        <p:txBody>
          <a:bodyPr/>
          <a:lstStyle/>
          <a:p>
            <a:fld id="{DA772EC5-DC75-4032-AACD-D1AF7E476C19}" type="slidenum">
              <a:rPr lang="fr-FR" smtClean="0"/>
              <a:t>‹N°›</a:t>
            </a:fld>
            <a:endParaRPr lang="fr-FR"/>
          </a:p>
        </p:txBody>
      </p:sp>
    </p:spTree>
    <p:extLst>
      <p:ext uri="{BB962C8B-B14F-4D97-AF65-F5344CB8AC3E}">
        <p14:creationId xmlns:p14="http://schemas.microsoft.com/office/powerpoint/2010/main" val="37445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506C5F-D51D-BFD6-EA24-F2AFC7E005A5}"/>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F8939605-E370-3800-C7BA-F29C4BDB73FF}"/>
              </a:ext>
            </a:extLst>
          </p:cNvPr>
          <p:cNvSpPr>
            <a:spLocks noGrp="1"/>
          </p:cNvSpPr>
          <p:nvPr>
            <p:ph type="dt" sz="half" idx="10"/>
          </p:nvPr>
        </p:nvSpPr>
        <p:spPr/>
        <p:txBody>
          <a:bodyPr/>
          <a:lstStyle/>
          <a:p>
            <a:fld id="{0047E2D8-A757-4D7D-9BEA-B7429E73103A}" type="datetimeFigureOut">
              <a:rPr lang="fr-FR" smtClean="0"/>
              <a:t>10/06/2025</a:t>
            </a:fld>
            <a:endParaRPr lang="fr-FR"/>
          </a:p>
        </p:txBody>
      </p:sp>
      <p:sp>
        <p:nvSpPr>
          <p:cNvPr id="4" name="Espace réservé du pied de page 3">
            <a:extLst>
              <a:ext uri="{FF2B5EF4-FFF2-40B4-BE49-F238E27FC236}">
                <a16:creationId xmlns:a16="http://schemas.microsoft.com/office/drawing/2014/main" id="{91C574C0-B6AB-FA72-C692-DE41EBFB39AD}"/>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51695BE5-E942-B842-7DF8-1464D340BF4B}"/>
              </a:ext>
            </a:extLst>
          </p:cNvPr>
          <p:cNvSpPr>
            <a:spLocks noGrp="1"/>
          </p:cNvSpPr>
          <p:nvPr>
            <p:ph type="sldNum" sz="quarter" idx="12"/>
          </p:nvPr>
        </p:nvSpPr>
        <p:spPr/>
        <p:txBody>
          <a:bodyPr/>
          <a:lstStyle/>
          <a:p>
            <a:fld id="{DA772EC5-DC75-4032-AACD-D1AF7E476C19}" type="slidenum">
              <a:rPr lang="fr-FR" smtClean="0"/>
              <a:t>‹N°›</a:t>
            </a:fld>
            <a:endParaRPr lang="fr-FR"/>
          </a:p>
        </p:txBody>
      </p:sp>
    </p:spTree>
    <p:extLst>
      <p:ext uri="{BB962C8B-B14F-4D97-AF65-F5344CB8AC3E}">
        <p14:creationId xmlns:p14="http://schemas.microsoft.com/office/powerpoint/2010/main" val="34169937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583609F0-E0F1-832E-4D72-42D64B73CFF7}"/>
              </a:ext>
            </a:extLst>
          </p:cNvPr>
          <p:cNvSpPr>
            <a:spLocks noGrp="1"/>
          </p:cNvSpPr>
          <p:nvPr>
            <p:ph type="dt" sz="half" idx="10"/>
          </p:nvPr>
        </p:nvSpPr>
        <p:spPr/>
        <p:txBody>
          <a:bodyPr/>
          <a:lstStyle/>
          <a:p>
            <a:fld id="{0047E2D8-A757-4D7D-9BEA-B7429E73103A}" type="datetimeFigureOut">
              <a:rPr lang="fr-FR" smtClean="0"/>
              <a:t>10/06/2025</a:t>
            </a:fld>
            <a:endParaRPr lang="fr-FR"/>
          </a:p>
        </p:txBody>
      </p:sp>
      <p:sp>
        <p:nvSpPr>
          <p:cNvPr id="3" name="Espace réservé du pied de page 2">
            <a:extLst>
              <a:ext uri="{FF2B5EF4-FFF2-40B4-BE49-F238E27FC236}">
                <a16:creationId xmlns:a16="http://schemas.microsoft.com/office/drawing/2014/main" id="{5BAD005B-9F26-8675-C142-794661788B9A}"/>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64BC939D-E192-89F0-D802-EB8D3D9867B7}"/>
              </a:ext>
            </a:extLst>
          </p:cNvPr>
          <p:cNvSpPr>
            <a:spLocks noGrp="1"/>
          </p:cNvSpPr>
          <p:nvPr>
            <p:ph type="sldNum" sz="quarter" idx="12"/>
          </p:nvPr>
        </p:nvSpPr>
        <p:spPr/>
        <p:txBody>
          <a:bodyPr/>
          <a:lstStyle/>
          <a:p>
            <a:fld id="{DA772EC5-DC75-4032-AACD-D1AF7E476C19}" type="slidenum">
              <a:rPr lang="fr-FR" smtClean="0"/>
              <a:t>‹N°›</a:t>
            </a:fld>
            <a:endParaRPr lang="fr-FR"/>
          </a:p>
        </p:txBody>
      </p:sp>
    </p:spTree>
    <p:extLst>
      <p:ext uri="{BB962C8B-B14F-4D97-AF65-F5344CB8AC3E}">
        <p14:creationId xmlns:p14="http://schemas.microsoft.com/office/powerpoint/2010/main" val="1387248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7D7AD5-255E-6175-41A2-68CA4C97D6D4}"/>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444E3309-645F-F048-44E8-AB5EE43D08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19D9CD20-0A04-02E0-1BCF-6BF16037EF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68CF66AE-5277-E166-F7BF-D9609738818B}"/>
              </a:ext>
            </a:extLst>
          </p:cNvPr>
          <p:cNvSpPr>
            <a:spLocks noGrp="1"/>
          </p:cNvSpPr>
          <p:nvPr>
            <p:ph type="dt" sz="half" idx="10"/>
          </p:nvPr>
        </p:nvSpPr>
        <p:spPr/>
        <p:txBody>
          <a:bodyPr/>
          <a:lstStyle/>
          <a:p>
            <a:fld id="{0047E2D8-A757-4D7D-9BEA-B7429E73103A}" type="datetimeFigureOut">
              <a:rPr lang="fr-FR" smtClean="0"/>
              <a:t>10/06/2025</a:t>
            </a:fld>
            <a:endParaRPr lang="fr-FR"/>
          </a:p>
        </p:txBody>
      </p:sp>
      <p:sp>
        <p:nvSpPr>
          <p:cNvPr id="6" name="Espace réservé du pied de page 5">
            <a:extLst>
              <a:ext uri="{FF2B5EF4-FFF2-40B4-BE49-F238E27FC236}">
                <a16:creationId xmlns:a16="http://schemas.microsoft.com/office/drawing/2014/main" id="{E688D071-CE6C-9B45-C137-4EB561E6782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457A07F-D695-2D23-2491-2DA9847B0231}"/>
              </a:ext>
            </a:extLst>
          </p:cNvPr>
          <p:cNvSpPr>
            <a:spLocks noGrp="1"/>
          </p:cNvSpPr>
          <p:nvPr>
            <p:ph type="sldNum" sz="quarter" idx="12"/>
          </p:nvPr>
        </p:nvSpPr>
        <p:spPr/>
        <p:txBody>
          <a:bodyPr/>
          <a:lstStyle/>
          <a:p>
            <a:fld id="{DA772EC5-DC75-4032-AACD-D1AF7E476C19}" type="slidenum">
              <a:rPr lang="fr-FR" smtClean="0"/>
              <a:t>‹N°›</a:t>
            </a:fld>
            <a:endParaRPr lang="fr-FR"/>
          </a:p>
        </p:txBody>
      </p:sp>
    </p:spTree>
    <p:extLst>
      <p:ext uri="{BB962C8B-B14F-4D97-AF65-F5344CB8AC3E}">
        <p14:creationId xmlns:p14="http://schemas.microsoft.com/office/powerpoint/2010/main" val="12364029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37DF12-93DF-EBEE-7A98-60FBA21F0B84}"/>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E205EF09-BBA1-F061-17B3-3418EF6CE7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6753C066-051B-D8B3-5814-AED2AA73EE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40A533EA-50F1-CC56-2954-9AA823119EC0}"/>
              </a:ext>
            </a:extLst>
          </p:cNvPr>
          <p:cNvSpPr>
            <a:spLocks noGrp="1"/>
          </p:cNvSpPr>
          <p:nvPr>
            <p:ph type="dt" sz="half" idx="10"/>
          </p:nvPr>
        </p:nvSpPr>
        <p:spPr/>
        <p:txBody>
          <a:bodyPr/>
          <a:lstStyle/>
          <a:p>
            <a:fld id="{0047E2D8-A757-4D7D-9BEA-B7429E73103A}" type="datetimeFigureOut">
              <a:rPr lang="fr-FR" smtClean="0"/>
              <a:t>10/06/2025</a:t>
            </a:fld>
            <a:endParaRPr lang="fr-FR"/>
          </a:p>
        </p:txBody>
      </p:sp>
      <p:sp>
        <p:nvSpPr>
          <p:cNvPr id="6" name="Espace réservé du pied de page 5">
            <a:extLst>
              <a:ext uri="{FF2B5EF4-FFF2-40B4-BE49-F238E27FC236}">
                <a16:creationId xmlns:a16="http://schemas.microsoft.com/office/drawing/2014/main" id="{9FBB687C-18EB-279B-11CF-1E37594A008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F7C4A3A-1F83-97ED-1B2E-567C5E93220C}"/>
              </a:ext>
            </a:extLst>
          </p:cNvPr>
          <p:cNvSpPr>
            <a:spLocks noGrp="1"/>
          </p:cNvSpPr>
          <p:nvPr>
            <p:ph type="sldNum" sz="quarter" idx="12"/>
          </p:nvPr>
        </p:nvSpPr>
        <p:spPr/>
        <p:txBody>
          <a:bodyPr/>
          <a:lstStyle/>
          <a:p>
            <a:fld id="{DA772EC5-DC75-4032-AACD-D1AF7E476C19}" type="slidenum">
              <a:rPr lang="fr-FR" smtClean="0"/>
              <a:t>‹N°›</a:t>
            </a:fld>
            <a:endParaRPr lang="fr-FR"/>
          </a:p>
        </p:txBody>
      </p:sp>
    </p:spTree>
    <p:extLst>
      <p:ext uri="{BB962C8B-B14F-4D97-AF65-F5344CB8AC3E}">
        <p14:creationId xmlns:p14="http://schemas.microsoft.com/office/powerpoint/2010/main" val="24937045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2611F7-22F3-3A4D-ECD7-F5B10EBF5DDE}"/>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244EE746-299A-3969-9240-25689977F9A9}"/>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004AE63-4271-A9B6-E76B-D5AC2C8A7B14}"/>
              </a:ext>
            </a:extLst>
          </p:cNvPr>
          <p:cNvSpPr>
            <a:spLocks noGrp="1"/>
          </p:cNvSpPr>
          <p:nvPr>
            <p:ph type="dt" sz="half" idx="10"/>
          </p:nvPr>
        </p:nvSpPr>
        <p:spPr/>
        <p:txBody>
          <a:bodyPr/>
          <a:lstStyle/>
          <a:p>
            <a:fld id="{0047E2D8-A757-4D7D-9BEA-B7429E73103A}" type="datetimeFigureOut">
              <a:rPr lang="fr-FR" smtClean="0"/>
              <a:t>10/06/2025</a:t>
            </a:fld>
            <a:endParaRPr lang="fr-FR"/>
          </a:p>
        </p:txBody>
      </p:sp>
      <p:sp>
        <p:nvSpPr>
          <p:cNvPr id="5" name="Espace réservé du pied de page 4">
            <a:extLst>
              <a:ext uri="{FF2B5EF4-FFF2-40B4-BE49-F238E27FC236}">
                <a16:creationId xmlns:a16="http://schemas.microsoft.com/office/drawing/2014/main" id="{7728608B-96B7-B12F-5DD3-32C3DC32D1D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586BDF3-6BC7-1A10-8D34-C19881E2A225}"/>
              </a:ext>
            </a:extLst>
          </p:cNvPr>
          <p:cNvSpPr>
            <a:spLocks noGrp="1"/>
          </p:cNvSpPr>
          <p:nvPr>
            <p:ph type="sldNum" sz="quarter" idx="12"/>
          </p:nvPr>
        </p:nvSpPr>
        <p:spPr/>
        <p:txBody>
          <a:bodyPr/>
          <a:lstStyle/>
          <a:p>
            <a:fld id="{DA772EC5-DC75-4032-AACD-D1AF7E476C19}" type="slidenum">
              <a:rPr lang="fr-FR" smtClean="0"/>
              <a:t>‹N°›</a:t>
            </a:fld>
            <a:endParaRPr lang="fr-FR"/>
          </a:p>
        </p:txBody>
      </p:sp>
    </p:spTree>
    <p:extLst>
      <p:ext uri="{BB962C8B-B14F-4D97-AF65-F5344CB8AC3E}">
        <p14:creationId xmlns:p14="http://schemas.microsoft.com/office/powerpoint/2010/main" val="19910897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5839B6EF-F52C-3C3A-0F60-317270E40986}"/>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89DBAFBA-8861-3642-1149-5F52FEC2A67F}"/>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A6B8182-D3B5-9D65-9FC7-76ACF425D200}"/>
              </a:ext>
            </a:extLst>
          </p:cNvPr>
          <p:cNvSpPr>
            <a:spLocks noGrp="1"/>
          </p:cNvSpPr>
          <p:nvPr>
            <p:ph type="dt" sz="half" idx="10"/>
          </p:nvPr>
        </p:nvSpPr>
        <p:spPr/>
        <p:txBody>
          <a:bodyPr/>
          <a:lstStyle/>
          <a:p>
            <a:fld id="{0047E2D8-A757-4D7D-9BEA-B7429E73103A}" type="datetimeFigureOut">
              <a:rPr lang="fr-FR" smtClean="0"/>
              <a:t>10/06/2025</a:t>
            </a:fld>
            <a:endParaRPr lang="fr-FR"/>
          </a:p>
        </p:txBody>
      </p:sp>
      <p:sp>
        <p:nvSpPr>
          <p:cNvPr id="5" name="Espace réservé du pied de page 4">
            <a:extLst>
              <a:ext uri="{FF2B5EF4-FFF2-40B4-BE49-F238E27FC236}">
                <a16:creationId xmlns:a16="http://schemas.microsoft.com/office/drawing/2014/main" id="{2C0E6622-494E-4275-57D1-CF65F998C20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4E37665-56CB-B220-108F-A377864DE2D2}"/>
              </a:ext>
            </a:extLst>
          </p:cNvPr>
          <p:cNvSpPr>
            <a:spLocks noGrp="1"/>
          </p:cNvSpPr>
          <p:nvPr>
            <p:ph type="sldNum" sz="quarter" idx="12"/>
          </p:nvPr>
        </p:nvSpPr>
        <p:spPr/>
        <p:txBody>
          <a:bodyPr/>
          <a:lstStyle/>
          <a:p>
            <a:fld id="{DA772EC5-DC75-4032-AACD-D1AF7E476C19}" type="slidenum">
              <a:rPr lang="fr-FR" smtClean="0"/>
              <a:t>‹N°›</a:t>
            </a:fld>
            <a:endParaRPr lang="fr-FR"/>
          </a:p>
        </p:txBody>
      </p:sp>
    </p:spTree>
    <p:extLst>
      <p:ext uri="{BB962C8B-B14F-4D97-AF65-F5344CB8AC3E}">
        <p14:creationId xmlns:p14="http://schemas.microsoft.com/office/powerpoint/2010/main" val="3173504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36525CAC-3BBD-9922-305A-49A63FB602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8FE948F8-E205-25E6-4601-33DB016449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5301AED-ED8B-3ECE-94B4-293EDFF7F18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047E2D8-A757-4D7D-9BEA-B7429E73103A}" type="datetimeFigureOut">
              <a:rPr lang="fr-FR" smtClean="0"/>
              <a:t>10/06/2025</a:t>
            </a:fld>
            <a:endParaRPr lang="fr-FR"/>
          </a:p>
        </p:txBody>
      </p:sp>
      <p:sp>
        <p:nvSpPr>
          <p:cNvPr id="5" name="Espace réservé du pied de page 4">
            <a:extLst>
              <a:ext uri="{FF2B5EF4-FFF2-40B4-BE49-F238E27FC236}">
                <a16:creationId xmlns:a16="http://schemas.microsoft.com/office/drawing/2014/main" id="{4582A34C-5AA8-2DA0-EA89-FFA56384C3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F7A18D6A-6352-36DD-C49E-EA164795A4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A772EC5-DC75-4032-AACD-D1AF7E476C19}" type="slidenum">
              <a:rPr lang="fr-FR" smtClean="0"/>
              <a:t>‹N°›</a:t>
            </a:fld>
            <a:endParaRPr lang="fr-FR"/>
          </a:p>
        </p:txBody>
      </p:sp>
    </p:spTree>
    <p:extLst>
      <p:ext uri="{BB962C8B-B14F-4D97-AF65-F5344CB8AC3E}">
        <p14:creationId xmlns:p14="http://schemas.microsoft.com/office/powerpoint/2010/main" val="30585069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612326B5-15EC-785C-B498-EC595D397DAD}"/>
              </a:ext>
            </a:extLst>
          </p:cNvPr>
          <p:cNvSpPr>
            <a:spLocks noGrp="1"/>
          </p:cNvSpPr>
          <p:nvPr>
            <p:ph type="subTitle" idx="1"/>
          </p:nvPr>
        </p:nvSpPr>
        <p:spPr>
          <a:xfrm>
            <a:off x="1524000" y="1884196"/>
            <a:ext cx="9144000" cy="3589504"/>
          </a:xfrm>
        </p:spPr>
        <p:txBody>
          <a:bodyPr>
            <a:noAutofit/>
          </a:bodyPr>
          <a:lstStyle/>
          <a:p>
            <a:pPr algn="l"/>
            <a:r>
              <a:rPr lang="fr-FR" sz="1800" b="1" dirty="0"/>
              <a:t>Objectif de l’analyse : </a:t>
            </a:r>
          </a:p>
          <a:p>
            <a:pPr algn="l"/>
            <a:br>
              <a:rPr lang="fr-FR" sz="1800" b="1" dirty="0"/>
            </a:br>
            <a:r>
              <a:rPr lang="fr-FR" sz="1800" b="1" dirty="0"/>
              <a:t>Caractéristiques importantes</a:t>
            </a:r>
            <a:r>
              <a:rPr lang="fr-FR" sz="1800" dirty="0"/>
              <a:t> : Identifier les caractéristiques les plus importantes pour la classification.</a:t>
            </a:r>
          </a:p>
          <a:p>
            <a:pPr algn="l"/>
            <a:r>
              <a:rPr lang="fr-FR" sz="1800" b="1" dirty="0"/>
              <a:t>Prétraitement nécessaire</a:t>
            </a:r>
            <a:r>
              <a:rPr lang="fr-FR" sz="1800" dirty="0"/>
              <a:t> : Déterminer si un prétraitement des données est nécessaire (normalisation, standardisation, gestion des valeurs manquantes, etc.).</a:t>
            </a:r>
          </a:p>
          <a:p>
            <a:pPr algn="l"/>
            <a:r>
              <a:rPr lang="fr-FR" sz="1800" b="1" dirty="0"/>
              <a:t>Sélection de caractéristiques</a:t>
            </a:r>
            <a:r>
              <a:rPr lang="fr-FR" sz="1800" dirty="0"/>
              <a:t> : Décider quelles caractéristiques inclure dans le modèle final.</a:t>
            </a:r>
          </a:p>
          <a:p>
            <a:pPr algn="l"/>
            <a:r>
              <a:rPr lang="fr-FR" sz="1800" b="1" dirty="0"/>
              <a:t>Visualisation des classes</a:t>
            </a:r>
            <a:r>
              <a:rPr lang="fr-FR" sz="1800" dirty="0"/>
              <a:t> : Comprendre comment les classes sont distribuées et séparées dans l'espace des caractéristiques.</a:t>
            </a:r>
          </a:p>
          <a:p>
            <a:pPr algn="l"/>
            <a:endParaRPr lang="fr-FR" sz="1800" dirty="0"/>
          </a:p>
        </p:txBody>
      </p:sp>
    </p:spTree>
    <p:extLst>
      <p:ext uri="{BB962C8B-B14F-4D97-AF65-F5344CB8AC3E}">
        <p14:creationId xmlns:p14="http://schemas.microsoft.com/office/powerpoint/2010/main" val="25508373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09EF93F6-7155-A208-B567-D9285CFFF629}"/>
              </a:ext>
            </a:extLst>
          </p:cNvPr>
          <p:cNvSpPr txBox="1"/>
          <p:nvPr/>
        </p:nvSpPr>
        <p:spPr>
          <a:xfrm>
            <a:off x="3047198" y="2967335"/>
            <a:ext cx="6097604" cy="923330"/>
          </a:xfrm>
          <a:prstGeom prst="rect">
            <a:avLst/>
          </a:prstGeom>
          <a:noFill/>
        </p:spPr>
        <p:txBody>
          <a:bodyPr wrap="square">
            <a:spAutoFit/>
          </a:bodyPr>
          <a:lstStyle/>
          <a:p>
            <a:r>
              <a:rPr lang="fr-FR" b="1" dirty="0"/>
              <a:t>Distribution des données</a:t>
            </a:r>
            <a:r>
              <a:rPr lang="fr-FR" dirty="0"/>
              <a:t> : Les histogrammes vous aident à comprendre la distribution des valeurs pour chaque caractéristique.</a:t>
            </a:r>
          </a:p>
        </p:txBody>
      </p:sp>
    </p:spTree>
    <p:extLst>
      <p:ext uri="{BB962C8B-B14F-4D97-AF65-F5344CB8AC3E}">
        <p14:creationId xmlns:p14="http://schemas.microsoft.com/office/powerpoint/2010/main" val="42717866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81BF36CB-0BAF-E5EF-90BB-2F024257E11B}"/>
              </a:ext>
            </a:extLst>
          </p:cNvPr>
          <p:cNvPicPr>
            <a:picLocks noChangeAspect="1"/>
          </p:cNvPicPr>
          <p:nvPr/>
        </p:nvPicPr>
        <p:blipFill>
          <a:blip r:embed="rId2"/>
          <a:stretch>
            <a:fillRect/>
          </a:stretch>
        </p:blipFill>
        <p:spPr>
          <a:xfrm>
            <a:off x="531899" y="479837"/>
            <a:ext cx="5467631" cy="1587582"/>
          </a:xfrm>
          <a:prstGeom prst="rect">
            <a:avLst/>
          </a:prstGeom>
        </p:spPr>
      </p:pic>
      <p:pic>
        <p:nvPicPr>
          <p:cNvPr id="7" name="Image 6">
            <a:extLst>
              <a:ext uri="{FF2B5EF4-FFF2-40B4-BE49-F238E27FC236}">
                <a16:creationId xmlns:a16="http://schemas.microsoft.com/office/drawing/2014/main" id="{D70FDC0F-7015-D4DC-9C1E-D7714ABD95F7}"/>
              </a:ext>
            </a:extLst>
          </p:cNvPr>
          <p:cNvPicPr>
            <a:picLocks noChangeAspect="1"/>
          </p:cNvPicPr>
          <p:nvPr/>
        </p:nvPicPr>
        <p:blipFill>
          <a:blip r:embed="rId3"/>
          <a:stretch>
            <a:fillRect/>
          </a:stretch>
        </p:blipFill>
        <p:spPr>
          <a:xfrm>
            <a:off x="6695499" y="393188"/>
            <a:ext cx="4788146" cy="2305168"/>
          </a:xfrm>
          <a:prstGeom prst="rect">
            <a:avLst/>
          </a:prstGeom>
        </p:spPr>
      </p:pic>
      <p:pic>
        <p:nvPicPr>
          <p:cNvPr id="9" name="Image 8">
            <a:extLst>
              <a:ext uri="{FF2B5EF4-FFF2-40B4-BE49-F238E27FC236}">
                <a16:creationId xmlns:a16="http://schemas.microsoft.com/office/drawing/2014/main" id="{9347DC95-751B-FA74-2135-13DBC314CFCD}"/>
              </a:ext>
            </a:extLst>
          </p:cNvPr>
          <p:cNvPicPr>
            <a:picLocks noChangeAspect="1"/>
          </p:cNvPicPr>
          <p:nvPr/>
        </p:nvPicPr>
        <p:blipFill>
          <a:blip r:embed="rId4"/>
          <a:srcRect r="54852"/>
          <a:stretch>
            <a:fillRect/>
          </a:stretch>
        </p:blipFill>
        <p:spPr>
          <a:xfrm>
            <a:off x="531900" y="3561854"/>
            <a:ext cx="2095798" cy="1606633"/>
          </a:xfrm>
          <a:prstGeom prst="rect">
            <a:avLst/>
          </a:prstGeom>
        </p:spPr>
      </p:pic>
      <p:pic>
        <p:nvPicPr>
          <p:cNvPr id="11" name="Image 10">
            <a:extLst>
              <a:ext uri="{FF2B5EF4-FFF2-40B4-BE49-F238E27FC236}">
                <a16:creationId xmlns:a16="http://schemas.microsoft.com/office/drawing/2014/main" id="{0DEF25BF-72AC-1217-1385-8D0CBA08F059}"/>
              </a:ext>
            </a:extLst>
          </p:cNvPr>
          <p:cNvPicPr>
            <a:picLocks noChangeAspect="1"/>
          </p:cNvPicPr>
          <p:nvPr/>
        </p:nvPicPr>
        <p:blipFill>
          <a:blip r:embed="rId5"/>
          <a:stretch>
            <a:fillRect/>
          </a:stretch>
        </p:blipFill>
        <p:spPr>
          <a:xfrm>
            <a:off x="6972879" y="3752363"/>
            <a:ext cx="2521080" cy="1225613"/>
          </a:xfrm>
          <a:prstGeom prst="rect">
            <a:avLst/>
          </a:prstGeom>
        </p:spPr>
      </p:pic>
    </p:spTree>
    <p:extLst>
      <p:ext uri="{BB962C8B-B14F-4D97-AF65-F5344CB8AC3E}">
        <p14:creationId xmlns:p14="http://schemas.microsoft.com/office/powerpoint/2010/main" val="4826148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A0A28862-DACE-433F-0CD1-186E96C28723}"/>
              </a:ext>
            </a:extLst>
          </p:cNvPr>
          <p:cNvPicPr>
            <a:picLocks noChangeAspect="1"/>
          </p:cNvPicPr>
          <p:nvPr/>
        </p:nvPicPr>
        <p:blipFill>
          <a:blip r:embed="rId3"/>
          <a:stretch>
            <a:fillRect/>
          </a:stretch>
        </p:blipFill>
        <p:spPr>
          <a:xfrm>
            <a:off x="987162" y="882519"/>
            <a:ext cx="10217675" cy="5092962"/>
          </a:xfrm>
          <a:prstGeom prst="rect">
            <a:avLst/>
          </a:prstGeom>
        </p:spPr>
      </p:pic>
      <p:sp>
        <p:nvSpPr>
          <p:cNvPr id="8" name="ZoneTexte 7">
            <a:extLst>
              <a:ext uri="{FF2B5EF4-FFF2-40B4-BE49-F238E27FC236}">
                <a16:creationId xmlns:a16="http://schemas.microsoft.com/office/drawing/2014/main" id="{9F4B0EB2-ECF0-BB15-1894-8F142FB66C2F}"/>
              </a:ext>
            </a:extLst>
          </p:cNvPr>
          <p:cNvSpPr txBox="1"/>
          <p:nvPr/>
        </p:nvSpPr>
        <p:spPr>
          <a:xfrm>
            <a:off x="3995057" y="457200"/>
            <a:ext cx="2790700" cy="369332"/>
          </a:xfrm>
          <a:prstGeom prst="rect">
            <a:avLst/>
          </a:prstGeom>
          <a:noFill/>
        </p:spPr>
        <p:txBody>
          <a:bodyPr wrap="none" rtlCol="0">
            <a:spAutoFit/>
          </a:bodyPr>
          <a:lstStyle/>
          <a:p>
            <a:r>
              <a:rPr lang="fr-FR"/>
              <a:t>Visualisation des données</a:t>
            </a:r>
            <a:endParaRPr lang="fr-FR" dirty="0"/>
          </a:p>
        </p:txBody>
      </p:sp>
    </p:spTree>
    <p:extLst>
      <p:ext uri="{BB962C8B-B14F-4D97-AF65-F5344CB8AC3E}">
        <p14:creationId xmlns:p14="http://schemas.microsoft.com/office/powerpoint/2010/main" val="26810902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24DB9DAA-DC96-A6F0-CF81-6955D3615518}"/>
              </a:ext>
            </a:extLst>
          </p:cNvPr>
          <p:cNvSpPr txBox="1"/>
          <p:nvPr/>
        </p:nvSpPr>
        <p:spPr>
          <a:xfrm>
            <a:off x="3366436" y="2828835"/>
            <a:ext cx="6097604" cy="1200329"/>
          </a:xfrm>
          <a:prstGeom prst="rect">
            <a:avLst/>
          </a:prstGeom>
          <a:noFill/>
        </p:spPr>
        <p:txBody>
          <a:bodyPr wrap="square">
            <a:spAutoFit/>
          </a:bodyPr>
          <a:lstStyle/>
          <a:p>
            <a:r>
              <a:rPr lang="fr-FR" b="1" dirty="0"/>
              <a:t>Séparation des classes</a:t>
            </a:r>
            <a:r>
              <a:rPr lang="fr-FR" dirty="0"/>
              <a:t> : Les diagrammes de dispersion colorés par la classe vous aident à visualiser comment les différentes classes se regroupent ou se séparent dans l'espace des caractéristiques.</a:t>
            </a:r>
          </a:p>
        </p:txBody>
      </p:sp>
    </p:spTree>
    <p:extLst>
      <p:ext uri="{BB962C8B-B14F-4D97-AF65-F5344CB8AC3E}">
        <p14:creationId xmlns:p14="http://schemas.microsoft.com/office/powerpoint/2010/main" val="38520049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29D7C392-BFDE-BC41-C38F-070D8568025E}"/>
              </a:ext>
            </a:extLst>
          </p:cNvPr>
          <p:cNvPicPr>
            <a:picLocks noChangeAspect="1"/>
          </p:cNvPicPr>
          <p:nvPr/>
        </p:nvPicPr>
        <p:blipFill>
          <a:blip r:embed="rId3"/>
          <a:stretch>
            <a:fillRect/>
          </a:stretch>
        </p:blipFill>
        <p:spPr>
          <a:xfrm>
            <a:off x="3955984" y="349474"/>
            <a:ext cx="7690585" cy="6013757"/>
          </a:xfrm>
          <a:prstGeom prst="rect">
            <a:avLst/>
          </a:prstGeom>
        </p:spPr>
      </p:pic>
      <p:sp>
        <p:nvSpPr>
          <p:cNvPr id="6" name="ZoneTexte 5">
            <a:extLst>
              <a:ext uri="{FF2B5EF4-FFF2-40B4-BE49-F238E27FC236}">
                <a16:creationId xmlns:a16="http://schemas.microsoft.com/office/drawing/2014/main" id="{3165D2FA-D42E-B3C3-1516-FF5CAD3F0B95}"/>
              </a:ext>
            </a:extLst>
          </p:cNvPr>
          <p:cNvSpPr txBox="1"/>
          <p:nvPr/>
        </p:nvSpPr>
        <p:spPr>
          <a:xfrm>
            <a:off x="856648" y="1347537"/>
            <a:ext cx="1678152" cy="369332"/>
          </a:xfrm>
          <a:prstGeom prst="rect">
            <a:avLst/>
          </a:prstGeom>
          <a:noFill/>
        </p:spPr>
        <p:txBody>
          <a:bodyPr wrap="none" rtlCol="0">
            <a:spAutoFit/>
          </a:bodyPr>
          <a:lstStyle/>
          <a:p>
            <a:r>
              <a:rPr lang="fr-FR" dirty="0"/>
              <a:t>Analyse bivarié</a:t>
            </a:r>
          </a:p>
        </p:txBody>
      </p:sp>
    </p:spTree>
    <p:extLst>
      <p:ext uri="{BB962C8B-B14F-4D97-AF65-F5344CB8AC3E}">
        <p14:creationId xmlns:p14="http://schemas.microsoft.com/office/powerpoint/2010/main" val="17998228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95512B2E-BF38-B138-1BD7-49594872C28A}"/>
              </a:ext>
            </a:extLst>
          </p:cNvPr>
          <p:cNvPicPr>
            <a:picLocks noChangeAspect="1"/>
          </p:cNvPicPr>
          <p:nvPr/>
        </p:nvPicPr>
        <p:blipFill>
          <a:blip r:embed="rId3"/>
          <a:stretch>
            <a:fillRect/>
          </a:stretch>
        </p:blipFill>
        <p:spPr>
          <a:xfrm>
            <a:off x="75890" y="876149"/>
            <a:ext cx="12040219" cy="5848651"/>
          </a:xfrm>
          <a:prstGeom prst="rect">
            <a:avLst/>
          </a:prstGeom>
        </p:spPr>
      </p:pic>
      <p:sp>
        <p:nvSpPr>
          <p:cNvPr id="8" name="ZoneTexte 7">
            <a:extLst>
              <a:ext uri="{FF2B5EF4-FFF2-40B4-BE49-F238E27FC236}">
                <a16:creationId xmlns:a16="http://schemas.microsoft.com/office/drawing/2014/main" id="{B82E9B11-858D-7BA9-2BE6-0FB35C8AE72D}"/>
              </a:ext>
            </a:extLst>
          </p:cNvPr>
          <p:cNvSpPr txBox="1"/>
          <p:nvPr/>
        </p:nvSpPr>
        <p:spPr>
          <a:xfrm>
            <a:off x="741145" y="298383"/>
            <a:ext cx="2730748" cy="369332"/>
          </a:xfrm>
          <a:prstGeom prst="rect">
            <a:avLst/>
          </a:prstGeom>
          <a:noFill/>
        </p:spPr>
        <p:txBody>
          <a:bodyPr wrap="none" rtlCol="0">
            <a:spAutoFit/>
          </a:bodyPr>
          <a:lstStyle/>
          <a:p>
            <a:r>
              <a:rPr lang="fr-FR" dirty="0"/>
              <a:t>Diagramme de dispersion</a:t>
            </a:r>
          </a:p>
        </p:txBody>
      </p:sp>
    </p:spTree>
    <p:extLst>
      <p:ext uri="{BB962C8B-B14F-4D97-AF65-F5344CB8AC3E}">
        <p14:creationId xmlns:p14="http://schemas.microsoft.com/office/powerpoint/2010/main" val="16906417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542A8C65-3203-1049-9408-E3C62D953194}"/>
              </a:ext>
            </a:extLst>
          </p:cNvPr>
          <p:cNvSpPr txBox="1"/>
          <p:nvPr/>
        </p:nvSpPr>
        <p:spPr>
          <a:xfrm>
            <a:off x="3047198" y="2828835"/>
            <a:ext cx="6097604" cy="1200329"/>
          </a:xfrm>
          <a:prstGeom prst="rect">
            <a:avLst/>
          </a:prstGeom>
          <a:noFill/>
        </p:spPr>
        <p:txBody>
          <a:bodyPr wrap="square">
            <a:spAutoFit/>
          </a:bodyPr>
          <a:lstStyle/>
          <a:p>
            <a:r>
              <a:rPr lang="fr-FR" b="1" dirty="0"/>
              <a:t>Relations entre les caractéristiques</a:t>
            </a:r>
            <a:r>
              <a:rPr lang="fr-FR" dirty="0"/>
              <a:t> : Les diagrammes de dispersion et la matrice de corrélation vous aident à identifier les relations et les corrélations entre les caractéristiques.</a:t>
            </a:r>
          </a:p>
        </p:txBody>
      </p:sp>
    </p:spTree>
    <p:extLst>
      <p:ext uri="{BB962C8B-B14F-4D97-AF65-F5344CB8AC3E}">
        <p14:creationId xmlns:p14="http://schemas.microsoft.com/office/powerpoint/2010/main" val="38701417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7863E0E3-B161-A0E3-5261-3FD005A48EB6}"/>
              </a:ext>
            </a:extLst>
          </p:cNvPr>
          <p:cNvPicPr>
            <a:picLocks noChangeAspect="1"/>
          </p:cNvPicPr>
          <p:nvPr/>
        </p:nvPicPr>
        <p:blipFill>
          <a:blip r:embed="rId3"/>
          <a:stretch>
            <a:fillRect/>
          </a:stretch>
        </p:blipFill>
        <p:spPr>
          <a:xfrm>
            <a:off x="604488" y="367693"/>
            <a:ext cx="7297853" cy="5831082"/>
          </a:xfrm>
          <a:prstGeom prst="rect">
            <a:avLst/>
          </a:prstGeom>
        </p:spPr>
      </p:pic>
      <p:sp>
        <p:nvSpPr>
          <p:cNvPr id="6" name="ZoneTexte 5">
            <a:extLst>
              <a:ext uri="{FF2B5EF4-FFF2-40B4-BE49-F238E27FC236}">
                <a16:creationId xmlns:a16="http://schemas.microsoft.com/office/drawing/2014/main" id="{0ECA5B67-E7A7-1C7C-F857-F008628E2FE8}"/>
              </a:ext>
            </a:extLst>
          </p:cNvPr>
          <p:cNvSpPr txBox="1"/>
          <p:nvPr/>
        </p:nvSpPr>
        <p:spPr>
          <a:xfrm>
            <a:off x="8662736" y="136687"/>
            <a:ext cx="2498697" cy="646331"/>
          </a:xfrm>
          <a:prstGeom prst="rect">
            <a:avLst/>
          </a:prstGeom>
          <a:noFill/>
        </p:spPr>
        <p:txBody>
          <a:bodyPr wrap="none" rtlCol="0">
            <a:spAutoFit/>
          </a:bodyPr>
          <a:lstStyle/>
          <a:p>
            <a:r>
              <a:rPr lang="fr-FR" b="1" dirty="0"/>
              <a:t>Matrice de corrélation</a:t>
            </a:r>
          </a:p>
          <a:p>
            <a:endParaRPr lang="fr-FR" dirty="0"/>
          </a:p>
        </p:txBody>
      </p:sp>
    </p:spTree>
    <p:extLst>
      <p:ext uri="{BB962C8B-B14F-4D97-AF65-F5344CB8AC3E}">
        <p14:creationId xmlns:p14="http://schemas.microsoft.com/office/powerpoint/2010/main" val="28859270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72B8751-10FA-0D95-0B77-52341D6A4557}"/>
              </a:ext>
            </a:extLst>
          </p:cNvPr>
          <p:cNvSpPr>
            <a:spLocks noGrp="1"/>
          </p:cNvSpPr>
          <p:nvPr>
            <p:ph type="title"/>
          </p:nvPr>
        </p:nvSpPr>
        <p:spPr/>
        <p:txBody>
          <a:bodyPr/>
          <a:lstStyle/>
          <a:p>
            <a:r>
              <a:rPr lang="fr-FR" dirty="0"/>
              <a:t>Analyse</a:t>
            </a:r>
          </a:p>
        </p:txBody>
      </p:sp>
      <p:sp>
        <p:nvSpPr>
          <p:cNvPr id="3" name="Espace réservé du contenu 2">
            <a:extLst>
              <a:ext uri="{FF2B5EF4-FFF2-40B4-BE49-F238E27FC236}">
                <a16:creationId xmlns:a16="http://schemas.microsoft.com/office/drawing/2014/main" id="{02CBB3A0-98CE-61E5-DD1F-FD611EF99FAB}"/>
              </a:ext>
            </a:extLst>
          </p:cNvPr>
          <p:cNvSpPr>
            <a:spLocks noGrp="1"/>
          </p:cNvSpPr>
          <p:nvPr>
            <p:ph idx="1"/>
          </p:nvPr>
        </p:nvSpPr>
        <p:spPr/>
        <p:txBody>
          <a:bodyPr/>
          <a:lstStyle/>
          <a:p>
            <a:endParaRPr lang="fr-FR"/>
          </a:p>
        </p:txBody>
      </p:sp>
    </p:spTree>
    <p:extLst>
      <p:ext uri="{BB962C8B-B14F-4D97-AF65-F5344CB8AC3E}">
        <p14:creationId xmlns:p14="http://schemas.microsoft.com/office/powerpoint/2010/main" val="5738873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E55930FC-5BEB-6208-2054-48519190A5D8}"/>
              </a:ext>
            </a:extLst>
          </p:cNvPr>
          <p:cNvSpPr>
            <a:spLocks noGrp="1" noChangeArrowheads="1"/>
          </p:cNvSpPr>
          <p:nvPr>
            <p:ph idx="1"/>
          </p:nvPr>
        </p:nvSpPr>
        <p:spPr bwMode="auto">
          <a:xfrm>
            <a:off x="783256" y="1859339"/>
            <a:ext cx="10625488"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fr-FR" altLang="fr-FR" sz="1800" b="1" i="0" u="none" strike="noStrike" cap="none" normalizeH="0" baseline="0" dirty="0">
                <a:ln>
                  <a:noFill/>
                </a:ln>
                <a:solidFill>
                  <a:schemeClr val="tx1"/>
                </a:solidFill>
                <a:effectLst/>
                <a:latin typeface="Arial" panose="020B0604020202020204" pitchFamily="34" charset="0"/>
              </a:rPr>
              <a:t>Prétraitement nécessaire</a:t>
            </a:r>
            <a:r>
              <a:rPr kumimoji="0" lang="fr-FR" altLang="fr-FR"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1" i="0" u="none" strike="noStrike" cap="none" normalizeH="0" baseline="0" dirty="0">
                <a:ln>
                  <a:noFill/>
                </a:ln>
                <a:solidFill>
                  <a:schemeClr val="tx1"/>
                </a:solidFill>
                <a:effectLst/>
                <a:latin typeface="Arial" panose="020B0604020202020204" pitchFamily="34" charset="0"/>
              </a:rPr>
              <a:t>Valeurs manquantes</a:t>
            </a:r>
            <a:r>
              <a:rPr kumimoji="0" lang="fr-FR" altLang="fr-FR" sz="1800" b="0" i="0" u="none" strike="noStrike" cap="none" normalizeH="0" baseline="0" dirty="0">
                <a:ln>
                  <a:noFill/>
                </a:ln>
                <a:solidFill>
                  <a:schemeClr val="tx1"/>
                </a:solidFill>
                <a:effectLst/>
                <a:latin typeface="Arial" panose="020B0604020202020204" pitchFamily="34" charset="0"/>
              </a:rPr>
              <a:t> : Vous avez vérifié la présence de valeurs manquantes. Si des valeurs manquantes étaient présentes, vous auriez besoin de les traiter, par exemple en les supprimant ou en les imputant.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1" i="0" u="none" strike="noStrike" cap="none" normalizeH="0" baseline="0" dirty="0">
                <a:ln>
                  <a:noFill/>
                </a:ln>
                <a:solidFill>
                  <a:schemeClr val="tx1"/>
                </a:solidFill>
                <a:effectLst/>
                <a:latin typeface="Arial" panose="020B0604020202020204" pitchFamily="34" charset="0"/>
              </a:rPr>
              <a:t>Normalisation/Standardisation</a:t>
            </a:r>
            <a:r>
              <a:rPr kumimoji="0" lang="fr-FR" altLang="fr-FR" sz="1800" b="0" i="0" u="none" strike="noStrike" cap="none" normalizeH="0" baseline="0" dirty="0">
                <a:ln>
                  <a:noFill/>
                </a:ln>
                <a:solidFill>
                  <a:schemeClr val="tx1"/>
                </a:solidFill>
                <a:effectLst/>
                <a:latin typeface="Arial" panose="020B0604020202020204" pitchFamily="34" charset="0"/>
              </a:rPr>
              <a:t> : En regardant les statistiques descriptives, vous pouvez décider si une normalisation ou une standardisation est nécessaire. Par exemple, si les caractéristiques ont des échelles très différentes, une standardisation pourrait être utile.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1" i="0" u="none" strike="noStrike" cap="none" normalizeH="0" baseline="0" dirty="0">
                <a:ln>
                  <a:noFill/>
                </a:ln>
                <a:solidFill>
                  <a:schemeClr val="tx1"/>
                </a:solidFill>
                <a:effectLst/>
                <a:latin typeface="Arial" panose="020B0604020202020204" pitchFamily="34" charset="0"/>
              </a:rPr>
              <a:t>Types de données</a:t>
            </a:r>
            <a:r>
              <a:rPr kumimoji="0" lang="fr-FR" altLang="fr-FR" sz="1800" b="0" i="0" u="none" strike="noStrike" cap="none" normalizeH="0" baseline="0" dirty="0">
                <a:ln>
                  <a:noFill/>
                </a:ln>
                <a:solidFill>
                  <a:schemeClr val="tx1"/>
                </a:solidFill>
                <a:effectLst/>
                <a:latin typeface="Arial" panose="020B0604020202020204" pitchFamily="34" charset="0"/>
              </a:rPr>
              <a:t> : Vous avez vérifié les types de données pour vous assurer que toutes les caractéristiques sont dans le bon format pour l'analyse.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762710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3">
            <a:extLst>
              <a:ext uri="{FF2B5EF4-FFF2-40B4-BE49-F238E27FC236}">
                <a16:creationId xmlns:a16="http://schemas.microsoft.com/office/drawing/2014/main" id="{AD613AA1-C137-FB2E-77EC-7B464E4871D5}"/>
              </a:ext>
            </a:extLst>
          </p:cNvPr>
          <p:cNvGraphicFramePr>
            <a:graphicFrameLocks noGrp="1"/>
          </p:cNvGraphicFramePr>
          <p:nvPr>
            <p:extLst>
              <p:ext uri="{D42A27DB-BD31-4B8C-83A1-F6EECF244321}">
                <p14:modId xmlns:p14="http://schemas.microsoft.com/office/powerpoint/2010/main" val="482060048"/>
              </p:ext>
            </p:extLst>
          </p:nvPr>
        </p:nvGraphicFramePr>
        <p:xfrm>
          <a:off x="2032000" y="719666"/>
          <a:ext cx="8127999" cy="589845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45933835"/>
                    </a:ext>
                  </a:extLst>
                </a:gridCol>
                <a:gridCol w="2709333">
                  <a:extLst>
                    <a:ext uri="{9D8B030D-6E8A-4147-A177-3AD203B41FA5}">
                      <a16:colId xmlns:a16="http://schemas.microsoft.com/office/drawing/2014/main" val="582753129"/>
                    </a:ext>
                  </a:extLst>
                </a:gridCol>
                <a:gridCol w="2709333">
                  <a:extLst>
                    <a:ext uri="{9D8B030D-6E8A-4147-A177-3AD203B41FA5}">
                      <a16:colId xmlns:a16="http://schemas.microsoft.com/office/drawing/2014/main" val="3205202027"/>
                    </a:ext>
                  </a:extLst>
                </a:gridCol>
              </a:tblGrid>
              <a:tr h="1362722">
                <a:tc>
                  <a:txBody>
                    <a:bodyPr/>
                    <a:lstStyle/>
                    <a:p>
                      <a:r>
                        <a:rPr lang="fr-FR" dirty="0"/>
                        <a:t>A </a:t>
                      </a:r>
                      <a:r>
                        <a:rPr lang="fr-FR" dirty="0" err="1"/>
                        <a:t>vérrifier</a:t>
                      </a:r>
                      <a:endParaRPr lang="fr-FR" dirty="0"/>
                    </a:p>
                  </a:txBody>
                  <a:tcPr/>
                </a:tc>
                <a:tc>
                  <a:txBody>
                    <a:bodyPr/>
                    <a:lstStyle/>
                    <a:p>
                      <a:r>
                        <a:rPr lang="fr-FR" dirty="0"/>
                        <a:t>Constatation</a:t>
                      </a:r>
                    </a:p>
                  </a:txBody>
                  <a:tcPr/>
                </a:tc>
                <a:tc>
                  <a:txBody>
                    <a:bodyPr/>
                    <a:lstStyle/>
                    <a:p>
                      <a:r>
                        <a:rPr lang="fr-FR" dirty="0"/>
                        <a:t>A réaliser</a:t>
                      </a:r>
                    </a:p>
                  </a:txBody>
                  <a:tcPr/>
                </a:tc>
                <a:extLst>
                  <a:ext uri="{0D108BD9-81ED-4DB2-BD59-A6C34878D82A}">
                    <a16:rowId xmlns:a16="http://schemas.microsoft.com/office/drawing/2014/main" val="2559127937"/>
                  </a:ext>
                </a:extLst>
              </a:tr>
              <a:tr h="1142075">
                <a:tc>
                  <a:txBody>
                    <a:bodyPr/>
                    <a:lstStyle/>
                    <a:p>
                      <a:r>
                        <a:rPr lang="fr-FR" dirty="0"/>
                        <a:t>Valeurs manquante</a:t>
                      </a:r>
                    </a:p>
                  </a:txBody>
                  <a:tcPr/>
                </a:tc>
                <a:tc>
                  <a:txBody>
                    <a:bodyPr/>
                    <a:lstStyle/>
                    <a:p>
                      <a:endParaRPr lang="fr-FR" dirty="0"/>
                    </a:p>
                  </a:txBody>
                  <a:tcPr/>
                </a:tc>
                <a:tc>
                  <a:txBody>
                    <a:bodyPr/>
                    <a:lstStyle/>
                    <a:p>
                      <a:r>
                        <a:rPr lang="fr-FR" dirty="0"/>
                        <a:t>Aucune action nécessaire</a:t>
                      </a:r>
                      <a:r>
                        <a:rPr lang="fr-FR" strike="sngStrike" dirty="0"/>
                        <a:t> (remplir avec une moyenne; valeur spécifique)</a:t>
                      </a:r>
                    </a:p>
                  </a:txBody>
                  <a:tcPr/>
                </a:tc>
                <a:extLst>
                  <a:ext uri="{0D108BD9-81ED-4DB2-BD59-A6C34878D82A}">
                    <a16:rowId xmlns:a16="http://schemas.microsoft.com/office/drawing/2014/main" val="633470521"/>
                  </a:ext>
                </a:extLst>
              </a:tr>
              <a:tr h="1984286">
                <a:tc>
                  <a:txBody>
                    <a:bodyPr/>
                    <a:lstStyle/>
                    <a:p>
                      <a:r>
                        <a:rPr kumimoji="0" lang="fr-FR" altLang="fr-FR" sz="1800" b="0" i="0" u="none" strike="noStrike" cap="none" normalizeH="0" baseline="0" dirty="0">
                          <a:ln>
                            <a:noFill/>
                          </a:ln>
                          <a:solidFill>
                            <a:schemeClr val="tx1"/>
                          </a:solidFill>
                          <a:effectLst/>
                          <a:latin typeface="Arial" panose="020B0604020202020204" pitchFamily="34" charset="0"/>
                        </a:rPr>
                        <a:t>Normalisation/Standardisation </a:t>
                      </a:r>
                      <a:endParaRPr lang="fr-FR" b="0" dirty="0"/>
                    </a:p>
                  </a:txBody>
                  <a:tcPr/>
                </a:tc>
                <a:tc>
                  <a:txBody>
                    <a:bodyPr/>
                    <a:lstStyle/>
                    <a:p>
                      <a:endParaRPr lang="fr-FR" dirty="0"/>
                    </a:p>
                  </a:txBody>
                  <a:tcPr/>
                </a:tc>
                <a:tc>
                  <a:txBody>
                    <a:bodyPr/>
                    <a:lstStyle/>
                    <a:p>
                      <a:endParaRPr lang="fr-FR" dirty="0"/>
                    </a:p>
                  </a:txBody>
                  <a:tcPr/>
                </a:tc>
                <a:extLst>
                  <a:ext uri="{0D108BD9-81ED-4DB2-BD59-A6C34878D82A}">
                    <a16:rowId xmlns:a16="http://schemas.microsoft.com/office/drawing/2014/main" val="3754219067"/>
                  </a:ext>
                </a:extLst>
              </a:tr>
              <a:tr h="1362722">
                <a:tc>
                  <a:txBody>
                    <a:bodyPr/>
                    <a:lstStyle/>
                    <a:p>
                      <a:r>
                        <a:rPr kumimoji="0" lang="fr-FR" altLang="fr-FR" sz="1800" b="0" i="0" u="none" strike="noStrike" cap="none" normalizeH="0" baseline="0" dirty="0">
                          <a:ln>
                            <a:noFill/>
                          </a:ln>
                          <a:solidFill>
                            <a:schemeClr val="tx1"/>
                          </a:solidFill>
                          <a:effectLst/>
                          <a:latin typeface="Arial" panose="020B0604020202020204" pitchFamily="34" charset="0"/>
                        </a:rPr>
                        <a:t>Types de données</a:t>
                      </a:r>
                      <a:endParaRPr lang="fr-FR" b="0" dirty="0"/>
                    </a:p>
                  </a:txBody>
                  <a:tcPr/>
                </a:tc>
                <a:tc>
                  <a:txBody>
                    <a:bodyPr/>
                    <a:lstStyle/>
                    <a:p>
                      <a:endParaRPr lang="fr-FR"/>
                    </a:p>
                  </a:txBody>
                  <a:tcPr/>
                </a:tc>
                <a:tc>
                  <a:txBody>
                    <a:bodyPr/>
                    <a:lstStyle/>
                    <a:p>
                      <a:endParaRPr lang="fr-FR" dirty="0"/>
                    </a:p>
                  </a:txBody>
                  <a:tcPr/>
                </a:tc>
                <a:extLst>
                  <a:ext uri="{0D108BD9-81ED-4DB2-BD59-A6C34878D82A}">
                    <a16:rowId xmlns:a16="http://schemas.microsoft.com/office/drawing/2014/main" val="2444348720"/>
                  </a:ext>
                </a:extLst>
              </a:tr>
            </a:tbl>
          </a:graphicData>
        </a:graphic>
      </p:graphicFrame>
      <p:pic>
        <p:nvPicPr>
          <p:cNvPr id="6" name="Image 5">
            <a:extLst>
              <a:ext uri="{FF2B5EF4-FFF2-40B4-BE49-F238E27FC236}">
                <a16:creationId xmlns:a16="http://schemas.microsoft.com/office/drawing/2014/main" id="{F4285F97-6AF9-8485-8DAC-5D6FA35A51E8}"/>
              </a:ext>
            </a:extLst>
          </p:cNvPr>
          <p:cNvPicPr>
            <a:picLocks noChangeAspect="1"/>
          </p:cNvPicPr>
          <p:nvPr/>
        </p:nvPicPr>
        <p:blipFill>
          <a:blip r:embed="rId2"/>
          <a:stretch>
            <a:fillRect/>
          </a:stretch>
        </p:blipFill>
        <p:spPr>
          <a:xfrm>
            <a:off x="5083449" y="2124467"/>
            <a:ext cx="2025099" cy="984494"/>
          </a:xfrm>
          <a:prstGeom prst="rect">
            <a:avLst/>
          </a:prstGeom>
        </p:spPr>
      </p:pic>
      <p:pic>
        <p:nvPicPr>
          <p:cNvPr id="7" name="Image 6">
            <a:extLst>
              <a:ext uri="{FF2B5EF4-FFF2-40B4-BE49-F238E27FC236}">
                <a16:creationId xmlns:a16="http://schemas.microsoft.com/office/drawing/2014/main" id="{9DA27824-B6F6-E406-E3CD-207C0D807182}"/>
              </a:ext>
            </a:extLst>
          </p:cNvPr>
          <p:cNvPicPr>
            <a:picLocks noChangeAspect="1"/>
          </p:cNvPicPr>
          <p:nvPr/>
        </p:nvPicPr>
        <p:blipFill>
          <a:blip r:embed="rId3"/>
          <a:stretch>
            <a:fillRect/>
          </a:stretch>
        </p:blipFill>
        <p:spPr>
          <a:xfrm>
            <a:off x="4748488" y="3580599"/>
            <a:ext cx="2695023" cy="1343324"/>
          </a:xfrm>
          <a:prstGeom prst="rect">
            <a:avLst/>
          </a:prstGeom>
        </p:spPr>
      </p:pic>
      <p:pic>
        <p:nvPicPr>
          <p:cNvPr id="8" name="Image 7">
            <a:extLst>
              <a:ext uri="{FF2B5EF4-FFF2-40B4-BE49-F238E27FC236}">
                <a16:creationId xmlns:a16="http://schemas.microsoft.com/office/drawing/2014/main" id="{76036738-94F9-5E98-822D-8B57EC02D5F2}"/>
              </a:ext>
            </a:extLst>
          </p:cNvPr>
          <p:cNvPicPr>
            <a:picLocks noChangeAspect="1"/>
          </p:cNvPicPr>
          <p:nvPr/>
        </p:nvPicPr>
        <p:blipFill>
          <a:blip r:embed="rId4"/>
          <a:srcRect r="54852"/>
          <a:stretch>
            <a:fillRect/>
          </a:stretch>
        </p:blipFill>
        <p:spPr>
          <a:xfrm>
            <a:off x="5203837" y="5358616"/>
            <a:ext cx="1594781" cy="1222555"/>
          </a:xfrm>
          <a:prstGeom prst="rect">
            <a:avLst/>
          </a:prstGeom>
        </p:spPr>
      </p:pic>
    </p:spTree>
    <p:extLst>
      <p:ext uri="{BB962C8B-B14F-4D97-AF65-F5344CB8AC3E}">
        <p14:creationId xmlns:p14="http://schemas.microsoft.com/office/powerpoint/2010/main" val="53721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404B7-225E-0D1D-E120-FE2479FF0E6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B164B20-3425-3BAD-0C3E-0E1D702EE9F6}"/>
              </a:ext>
            </a:extLst>
          </p:cNvPr>
          <p:cNvSpPr>
            <a:spLocks noGrp="1"/>
          </p:cNvSpPr>
          <p:nvPr>
            <p:ph type="title"/>
          </p:nvPr>
        </p:nvSpPr>
        <p:spPr/>
        <p:txBody>
          <a:bodyPr/>
          <a:lstStyle/>
          <a:p>
            <a:r>
              <a:rPr lang="fr-FR" dirty="0"/>
              <a:t>Conclusion : </a:t>
            </a:r>
          </a:p>
        </p:txBody>
      </p:sp>
      <p:sp>
        <p:nvSpPr>
          <p:cNvPr id="3" name="Espace réservé du contenu 2">
            <a:extLst>
              <a:ext uri="{FF2B5EF4-FFF2-40B4-BE49-F238E27FC236}">
                <a16:creationId xmlns:a16="http://schemas.microsoft.com/office/drawing/2014/main" id="{5408EAC4-730C-14F6-C5BC-D130DA29BD52}"/>
              </a:ext>
            </a:extLst>
          </p:cNvPr>
          <p:cNvSpPr>
            <a:spLocks noGrp="1"/>
          </p:cNvSpPr>
          <p:nvPr>
            <p:ph idx="1"/>
          </p:nvPr>
        </p:nvSpPr>
        <p:spPr/>
        <p:txBody>
          <a:bodyPr/>
          <a:lstStyle/>
          <a:p>
            <a:pPr marL="0" indent="0">
              <a:buNone/>
            </a:pPr>
            <a:endParaRPr lang="fr-FR" dirty="0"/>
          </a:p>
        </p:txBody>
      </p:sp>
    </p:spTree>
    <p:extLst>
      <p:ext uri="{BB962C8B-B14F-4D97-AF65-F5344CB8AC3E}">
        <p14:creationId xmlns:p14="http://schemas.microsoft.com/office/powerpoint/2010/main" val="11587189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E746715-8639-7F52-8782-3322A8FA040A}"/>
              </a:ext>
            </a:extLst>
          </p:cNvPr>
          <p:cNvSpPr>
            <a:spLocks noGrp="1"/>
          </p:cNvSpPr>
          <p:nvPr>
            <p:ph idx="1"/>
          </p:nvPr>
        </p:nvSpPr>
        <p:spPr>
          <a:xfrm>
            <a:off x="751573" y="997852"/>
            <a:ext cx="10515600" cy="4351338"/>
          </a:xfrm>
        </p:spPr>
        <p:txBody>
          <a:bodyPr>
            <a:normAutofit fontScale="70000" lnSpcReduction="20000"/>
          </a:bodyPr>
          <a:lstStyle/>
          <a:p>
            <a:pPr marL="0" indent="0">
              <a:buNone/>
            </a:pPr>
            <a:r>
              <a:rPr lang="fr-FR" b="1" dirty="0"/>
              <a:t>Comment déterminer quelles sont les caractéristiques les plus importantes à prendre en compte dans la classification ?</a:t>
            </a:r>
          </a:p>
          <a:p>
            <a:pPr marL="0" indent="0">
              <a:buNone/>
            </a:pPr>
            <a:endParaRPr lang="fr-FR" dirty="0"/>
          </a:p>
          <a:p>
            <a:r>
              <a:rPr lang="fr-FR" b="1" dirty="0"/>
              <a:t>Matrice de corrélation</a:t>
            </a:r>
            <a:r>
              <a:rPr lang="fr-FR" dirty="0"/>
              <a:t> : Utilisez la matrice de corrélation pour identifier les caractéristiques fortement corrélées avec la variable cible (dans ce cas, la classe). Les caractéristiques avec des corrélations élevées (positives ou négatives) sont généralement plus importantes.</a:t>
            </a:r>
          </a:p>
          <a:p>
            <a:r>
              <a:rPr lang="fr-FR" b="1" dirty="0"/>
              <a:t>Analyse de variance (ANOVA)</a:t>
            </a:r>
            <a:r>
              <a:rPr lang="fr-FR" dirty="0"/>
              <a:t> : Pour les problèmes de classification, L'ANOVA est utilisée pour comparer les moyennes de trois groupes ou plus afin de déterminer s'il existe des différences statistiquement significatives entre eux. Les caractéristiques avec des valeurs p faibles sont plus importantes.</a:t>
            </a:r>
          </a:p>
          <a:p>
            <a:r>
              <a:rPr lang="fr-FR" b="1" dirty="0"/>
              <a:t>Visualisation des classes</a:t>
            </a:r>
            <a:r>
              <a:rPr lang="fr-FR" dirty="0"/>
              <a:t> : Les diagrammes de dispersion colorés par classe peuvent montrer quelles caractéristiques séparent le mieux les classes. Par exemple, si les classes sont bien séparées dans un diagramme de dispersion utilisant deux caractéristiques, ces caractéristiques sont probablement importantes.</a:t>
            </a:r>
          </a:p>
          <a:p>
            <a:endParaRPr lang="fr-FR" dirty="0"/>
          </a:p>
        </p:txBody>
      </p:sp>
    </p:spTree>
    <p:extLst>
      <p:ext uri="{BB962C8B-B14F-4D97-AF65-F5344CB8AC3E}">
        <p14:creationId xmlns:p14="http://schemas.microsoft.com/office/powerpoint/2010/main" val="5696241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A8D45765-DA50-BFF6-F19E-ADF054FA6F84}"/>
              </a:ext>
            </a:extLst>
          </p:cNvPr>
          <p:cNvPicPr>
            <a:picLocks noChangeAspect="1"/>
          </p:cNvPicPr>
          <p:nvPr/>
        </p:nvPicPr>
        <p:blipFill>
          <a:blip r:embed="rId2"/>
          <a:stretch>
            <a:fillRect/>
          </a:stretch>
        </p:blipFill>
        <p:spPr>
          <a:xfrm>
            <a:off x="275069" y="228600"/>
            <a:ext cx="4706272" cy="3760374"/>
          </a:xfrm>
          <a:prstGeom prst="rect">
            <a:avLst/>
          </a:prstGeom>
        </p:spPr>
      </p:pic>
      <p:sp>
        <p:nvSpPr>
          <p:cNvPr id="5" name="ZoneTexte 4">
            <a:extLst>
              <a:ext uri="{FF2B5EF4-FFF2-40B4-BE49-F238E27FC236}">
                <a16:creationId xmlns:a16="http://schemas.microsoft.com/office/drawing/2014/main" id="{D8D7DEA7-AB04-A0D4-ABD7-398ED5EB5B15}"/>
              </a:ext>
            </a:extLst>
          </p:cNvPr>
          <p:cNvSpPr txBox="1"/>
          <p:nvPr/>
        </p:nvSpPr>
        <p:spPr>
          <a:xfrm>
            <a:off x="5209941" y="406400"/>
            <a:ext cx="6397859" cy="3139321"/>
          </a:xfrm>
          <a:prstGeom prst="rect">
            <a:avLst/>
          </a:prstGeom>
          <a:noFill/>
        </p:spPr>
        <p:txBody>
          <a:bodyPr wrap="square" rtlCol="0">
            <a:spAutoFit/>
          </a:bodyPr>
          <a:lstStyle/>
          <a:p>
            <a:r>
              <a:rPr lang="fr-FR" dirty="0"/>
              <a:t>On </a:t>
            </a:r>
            <a:r>
              <a:rPr lang="fr-FR" dirty="0" err="1"/>
              <a:t>comence</a:t>
            </a:r>
            <a:r>
              <a:rPr lang="fr-FR" dirty="0"/>
              <a:t> a traiter les corrélation dans les même classes : </a:t>
            </a:r>
          </a:p>
          <a:p>
            <a:br>
              <a:rPr lang="fr-FR" dirty="0"/>
            </a:br>
            <a:r>
              <a:rPr lang="fr-FR" dirty="0"/>
              <a:t>On recherche les valeurs </a:t>
            </a:r>
            <a:r>
              <a:rPr lang="fr-FR" dirty="0" err="1"/>
              <a:t>extrémes</a:t>
            </a:r>
            <a:r>
              <a:rPr lang="fr-FR" dirty="0"/>
              <a:t>, </a:t>
            </a:r>
            <a:r>
              <a:rPr lang="fr-FR" dirty="0" err="1"/>
              <a:t>supperieur</a:t>
            </a:r>
            <a:r>
              <a:rPr lang="fr-FR" dirty="0"/>
              <a:t> a 0,8 et inferieur a -0,8 :</a:t>
            </a:r>
          </a:p>
          <a:p>
            <a:r>
              <a:rPr lang="fr-FR" dirty="0"/>
              <a:t>Forte corrélation entre : </a:t>
            </a:r>
          </a:p>
          <a:p>
            <a:pPr marL="285750" indent="-285750">
              <a:buFontTx/>
              <a:buChar char="-"/>
            </a:pPr>
            <a:r>
              <a:rPr lang="fr-FR" dirty="0" err="1"/>
              <a:t>sepal_lenght</a:t>
            </a:r>
            <a:r>
              <a:rPr lang="fr-FR" dirty="0"/>
              <a:t> – </a:t>
            </a:r>
            <a:r>
              <a:rPr lang="fr-FR" dirty="0" err="1"/>
              <a:t>petal_lenght</a:t>
            </a:r>
            <a:endParaRPr lang="fr-FR" dirty="0"/>
          </a:p>
          <a:p>
            <a:pPr marL="285750" indent="-285750">
              <a:buFontTx/>
              <a:buChar char="-"/>
            </a:pPr>
            <a:r>
              <a:rPr lang="fr-FR" dirty="0" err="1"/>
              <a:t>sepal_lenght</a:t>
            </a:r>
            <a:r>
              <a:rPr lang="fr-FR" dirty="0"/>
              <a:t> – </a:t>
            </a:r>
            <a:r>
              <a:rPr lang="fr-FR" dirty="0" err="1"/>
              <a:t>petal_width</a:t>
            </a:r>
            <a:endParaRPr lang="fr-FR" dirty="0"/>
          </a:p>
          <a:p>
            <a:pPr marL="285750" indent="-285750">
              <a:buFontTx/>
              <a:buChar char="-"/>
            </a:pPr>
            <a:r>
              <a:rPr lang="fr-FR" dirty="0" err="1"/>
              <a:t>Petal_lenght</a:t>
            </a:r>
            <a:r>
              <a:rPr lang="fr-FR" dirty="0"/>
              <a:t> – </a:t>
            </a:r>
            <a:r>
              <a:rPr lang="fr-FR" dirty="0" err="1"/>
              <a:t>petal_width</a:t>
            </a:r>
            <a:endParaRPr lang="fr-FR" dirty="0"/>
          </a:p>
          <a:p>
            <a:endParaRPr lang="fr-FR" dirty="0"/>
          </a:p>
          <a:p>
            <a:r>
              <a:rPr lang="fr-FR" dirty="0" err="1"/>
              <a:t>Sepal_width</a:t>
            </a:r>
            <a:r>
              <a:rPr lang="fr-FR" dirty="0"/>
              <a:t> semble évoluer seul, sans affecter les autres valeurs.</a:t>
            </a:r>
          </a:p>
        </p:txBody>
      </p:sp>
      <p:pic>
        <p:nvPicPr>
          <p:cNvPr id="9" name="Image 8">
            <a:extLst>
              <a:ext uri="{FF2B5EF4-FFF2-40B4-BE49-F238E27FC236}">
                <a16:creationId xmlns:a16="http://schemas.microsoft.com/office/drawing/2014/main" id="{FF28E415-9F33-EF98-6ECE-01966D1FF60D}"/>
              </a:ext>
            </a:extLst>
          </p:cNvPr>
          <p:cNvPicPr>
            <a:picLocks noChangeAspect="1"/>
          </p:cNvPicPr>
          <p:nvPr/>
        </p:nvPicPr>
        <p:blipFill>
          <a:blip r:embed="rId3"/>
          <a:stretch>
            <a:fillRect/>
          </a:stretch>
        </p:blipFill>
        <p:spPr>
          <a:xfrm>
            <a:off x="6772391" y="4432407"/>
            <a:ext cx="5121226" cy="958899"/>
          </a:xfrm>
          <a:prstGeom prst="rect">
            <a:avLst/>
          </a:prstGeom>
        </p:spPr>
      </p:pic>
      <p:sp>
        <p:nvSpPr>
          <p:cNvPr id="10" name="ZoneTexte 9">
            <a:extLst>
              <a:ext uri="{FF2B5EF4-FFF2-40B4-BE49-F238E27FC236}">
                <a16:creationId xmlns:a16="http://schemas.microsoft.com/office/drawing/2014/main" id="{D87D20BD-7164-C0D5-ABC7-C10F1EE44FEE}"/>
              </a:ext>
            </a:extLst>
          </p:cNvPr>
          <p:cNvSpPr txBox="1"/>
          <p:nvPr/>
        </p:nvSpPr>
        <p:spPr>
          <a:xfrm>
            <a:off x="115503" y="4102071"/>
            <a:ext cx="7150634" cy="2031325"/>
          </a:xfrm>
          <a:prstGeom prst="rect">
            <a:avLst/>
          </a:prstGeom>
          <a:noFill/>
        </p:spPr>
        <p:txBody>
          <a:bodyPr wrap="square" rtlCol="0">
            <a:spAutoFit/>
          </a:bodyPr>
          <a:lstStyle/>
          <a:p>
            <a:r>
              <a:rPr lang="fr-FR" dirty="0"/>
              <a:t>Ici on vas </a:t>
            </a:r>
            <a:r>
              <a:rPr lang="fr-FR" dirty="0" err="1"/>
              <a:t>vérrifier</a:t>
            </a:r>
            <a:r>
              <a:rPr lang="fr-FR" dirty="0"/>
              <a:t> les corrélation entre classes en réalisant une </a:t>
            </a:r>
            <a:r>
              <a:rPr lang="fr-FR" dirty="0" err="1"/>
              <a:t>etude</a:t>
            </a:r>
            <a:r>
              <a:rPr lang="fr-FR" dirty="0"/>
              <a:t> ANOVA des colonnes : </a:t>
            </a:r>
          </a:p>
          <a:p>
            <a:endParaRPr lang="fr-FR" dirty="0"/>
          </a:p>
          <a:p>
            <a:r>
              <a:rPr lang="fr-FR" dirty="0"/>
              <a:t>Ici on recherche une valeur de p petite pour montrer une grande</a:t>
            </a:r>
          </a:p>
          <a:p>
            <a:r>
              <a:rPr lang="fr-FR" dirty="0"/>
              <a:t>disparité des valeurs dans les différents groupe.</a:t>
            </a:r>
          </a:p>
          <a:p>
            <a:r>
              <a:rPr lang="fr-FR" dirty="0"/>
              <a:t>Ces variables sont</a:t>
            </a:r>
          </a:p>
          <a:p>
            <a:r>
              <a:rPr lang="fr-FR" dirty="0"/>
              <a:t>donc toutes viables pour un model prédictif</a:t>
            </a:r>
          </a:p>
        </p:txBody>
      </p:sp>
      <p:sp>
        <p:nvSpPr>
          <p:cNvPr id="11" name="Rectangle 10">
            <a:extLst>
              <a:ext uri="{FF2B5EF4-FFF2-40B4-BE49-F238E27FC236}">
                <a16:creationId xmlns:a16="http://schemas.microsoft.com/office/drawing/2014/main" id="{EE6DECE6-711A-D7CB-D004-665D2F7BD769}"/>
              </a:ext>
            </a:extLst>
          </p:cNvPr>
          <p:cNvSpPr/>
          <p:nvPr/>
        </p:nvSpPr>
        <p:spPr>
          <a:xfrm>
            <a:off x="115503" y="115503"/>
            <a:ext cx="11916076" cy="3793191"/>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fr-FR"/>
          </a:p>
        </p:txBody>
      </p:sp>
      <p:sp>
        <p:nvSpPr>
          <p:cNvPr id="12" name="Rectangle 11">
            <a:extLst>
              <a:ext uri="{FF2B5EF4-FFF2-40B4-BE49-F238E27FC236}">
                <a16:creationId xmlns:a16="http://schemas.microsoft.com/office/drawing/2014/main" id="{E050BCBF-0FCE-E5FD-ED12-30FD72007452}"/>
              </a:ext>
            </a:extLst>
          </p:cNvPr>
          <p:cNvSpPr/>
          <p:nvPr/>
        </p:nvSpPr>
        <p:spPr>
          <a:xfrm>
            <a:off x="5209941" y="5601903"/>
            <a:ext cx="6821638" cy="1140594"/>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DE1659CD-2A33-88EB-0024-E756D04143B4}"/>
              </a:ext>
            </a:extLst>
          </p:cNvPr>
          <p:cNvSpPr txBox="1"/>
          <p:nvPr/>
        </p:nvSpPr>
        <p:spPr>
          <a:xfrm>
            <a:off x="5512068" y="5703002"/>
            <a:ext cx="6474007" cy="954107"/>
          </a:xfrm>
          <a:prstGeom prst="rect">
            <a:avLst/>
          </a:prstGeom>
          <a:noFill/>
        </p:spPr>
        <p:txBody>
          <a:bodyPr wrap="square" rtlCol="0">
            <a:spAutoFit/>
          </a:bodyPr>
          <a:lstStyle/>
          <a:p>
            <a:r>
              <a:rPr lang="fr-FR" sz="1400" dirty="0"/>
              <a:t>Attention : Ici on remarque que </a:t>
            </a:r>
            <a:r>
              <a:rPr lang="fr-FR" sz="1400" dirty="0" err="1"/>
              <a:t>sepal_width</a:t>
            </a:r>
            <a:r>
              <a:rPr lang="fr-FR" sz="1400" dirty="0"/>
              <a:t> a de mauvais résultat pour la matrice de corrélation, mais de bon résultat a ANOVA. Cela indique que cette valeur de change pas trop a l’</a:t>
            </a:r>
            <a:r>
              <a:rPr lang="fr-FR" sz="1400" dirty="0" err="1"/>
              <a:t>interieur</a:t>
            </a:r>
            <a:r>
              <a:rPr lang="fr-FR" sz="1400" dirty="0"/>
              <a:t> de chaque classe, mais elle varie beaucoup en </a:t>
            </a:r>
            <a:r>
              <a:rPr lang="fr-FR" sz="1400" dirty="0" err="1"/>
              <a:t>fonctoin</a:t>
            </a:r>
            <a:r>
              <a:rPr lang="fr-FR" sz="1400" dirty="0"/>
              <a:t> de la classe. Elle deviens nue valeur de chois pour le model prédictif</a:t>
            </a:r>
          </a:p>
        </p:txBody>
      </p:sp>
    </p:spTree>
    <p:extLst>
      <p:ext uri="{BB962C8B-B14F-4D97-AF65-F5344CB8AC3E}">
        <p14:creationId xmlns:p14="http://schemas.microsoft.com/office/powerpoint/2010/main" val="27495790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258F9ACD-6BDA-D069-365E-26E3F8642016}"/>
              </a:ext>
            </a:extLst>
          </p:cNvPr>
          <p:cNvSpPr txBox="1"/>
          <p:nvPr/>
        </p:nvSpPr>
        <p:spPr>
          <a:xfrm>
            <a:off x="122721" y="89654"/>
            <a:ext cx="10503569" cy="369332"/>
          </a:xfrm>
          <a:prstGeom prst="rect">
            <a:avLst/>
          </a:prstGeom>
          <a:noFill/>
        </p:spPr>
        <p:txBody>
          <a:bodyPr wrap="square">
            <a:spAutoFit/>
          </a:bodyPr>
          <a:lstStyle/>
          <a:p>
            <a:r>
              <a:rPr lang="fr-FR" b="1" dirty="0"/>
              <a:t>Visualisation des classes</a:t>
            </a:r>
            <a:r>
              <a:rPr lang="fr-FR" dirty="0"/>
              <a:t> : On recherche les corrélation permettant de séparer au mieux les classes</a:t>
            </a:r>
          </a:p>
        </p:txBody>
      </p:sp>
      <p:pic>
        <p:nvPicPr>
          <p:cNvPr id="6" name="Image 5">
            <a:extLst>
              <a:ext uri="{FF2B5EF4-FFF2-40B4-BE49-F238E27FC236}">
                <a16:creationId xmlns:a16="http://schemas.microsoft.com/office/drawing/2014/main" id="{18D9663B-D276-CADD-3377-6CCC9DCB3E2C}"/>
              </a:ext>
            </a:extLst>
          </p:cNvPr>
          <p:cNvPicPr>
            <a:picLocks noChangeAspect="1"/>
          </p:cNvPicPr>
          <p:nvPr/>
        </p:nvPicPr>
        <p:blipFill>
          <a:blip r:embed="rId2"/>
          <a:stretch>
            <a:fillRect/>
          </a:stretch>
        </p:blipFill>
        <p:spPr>
          <a:xfrm>
            <a:off x="75890" y="599173"/>
            <a:ext cx="12040219" cy="5848651"/>
          </a:xfrm>
          <a:prstGeom prst="rect">
            <a:avLst/>
          </a:prstGeom>
        </p:spPr>
      </p:pic>
      <p:sp>
        <p:nvSpPr>
          <p:cNvPr id="7" name="Ellipse 6">
            <a:extLst>
              <a:ext uri="{FF2B5EF4-FFF2-40B4-BE49-F238E27FC236}">
                <a16:creationId xmlns:a16="http://schemas.microsoft.com/office/drawing/2014/main" id="{5395C909-FA82-B432-32FE-2C47A041CE75}"/>
              </a:ext>
            </a:extLst>
          </p:cNvPr>
          <p:cNvSpPr/>
          <p:nvPr/>
        </p:nvSpPr>
        <p:spPr>
          <a:xfrm>
            <a:off x="5629175" y="1848702"/>
            <a:ext cx="2569945" cy="1674796"/>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id="{B841D305-E841-6ECE-016A-B8EC11AA0E94}"/>
              </a:ext>
            </a:extLst>
          </p:cNvPr>
          <p:cNvSpPr/>
          <p:nvPr/>
        </p:nvSpPr>
        <p:spPr>
          <a:xfrm>
            <a:off x="5629174" y="4584031"/>
            <a:ext cx="2569945" cy="1674796"/>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E0715C14-50D4-5B7F-29F0-78775D11D02D}"/>
              </a:ext>
            </a:extLst>
          </p:cNvPr>
          <p:cNvSpPr/>
          <p:nvPr/>
        </p:nvSpPr>
        <p:spPr>
          <a:xfrm>
            <a:off x="3059229" y="3216367"/>
            <a:ext cx="2569945" cy="1674796"/>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B2CEA45C-B40D-21C7-E76F-A5FEFADBEB6B}"/>
              </a:ext>
            </a:extLst>
          </p:cNvPr>
          <p:cNvSpPr/>
          <p:nvPr/>
        </p:nvSpPr>
        <p:spPr>
          <a:xfrm>
            <a:off x="564682" y="4619462"/>
            <a:ext cx="2569945" cy="1674796"/>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319F8331-C3B7-3886-B778-192C1159B058}"/>
              </a:ext>
            </a:extLst>
          </p:cNvPr>
          <p:cNvSpPr/>
          <p:nvPr/>
        </p:nvSpPr>
        <p:spPr>
          <a:xfrm>
            <a:off x="7887903" y="3216367"/>
            <a:ext cx="2569945" cy="1674796"/>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Ellipse 11">
            <a:extLst>
              <a:ext uri="{FF2B5EF4-FFF2-40B4-BE49-F238E27FC236}">
                <a16:creationId xmlns:a16="http://schemas.microsoft.com/office/drawing/2014/main" id="{3E53B452-6A18-9F73-C219-66F9C056D3E4}"/>
              </a:ext>
            </a:extLst>
          </p:cNvPr>
          <p:cNvSpPr/>
          <p:nvPr/>
        </p:nvSpPr>
        <p:spPr>
          <a:xfrm>
            <a:off x="8043512" y="458986"/>
            <a:ext cx="2569945" cy="1674796"/>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4399312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CBFFD5-B352-8FCF-CA51-8A97F09ABF77}"/>
              </a:ext>
            </a:extLst>
          </p:cNvPr>
          <p:cNvSpPr>
            <a:spLocks noGrp="1"/>
          </p:cNvSpPr>
          <p:nvPr>
            <p:ph type="title"/>
          </p:nvPr>
        </p:nvSpPr>
        <p:spPr/>
        <p:txBody>
          <a:bodyPr/>
          <a:lstStyle/>
          <a:p>
            <a:r>
              <a:rPr lang="fr-FR" dirty="0"/>
              <a:t>Conclusion : </a:t>
            </a:r>
          </a:p>
        </p:txBody>
      </p:sp>
      <p:sp>
        <p:nvSpPr>
          <p:cNvPr id="3" name="Espace réservé du contenu 2">
            <a:extLst>
              <a:ext uri="{FF2B5EF4-FFF2-40B4-BE49-F238E27FC236}">
                <a16:creationId xmlns:a16="http://schemas.microsoft.com/office/drawing/2014/main" id="{5DC6C810-1DBA-58E3-6E47-137DB5A5B68C}"/>
              </a:ext>
            </a:extLst>
          </p:cNvPr>
          <p:cNvSpPr>
            <a:spLocks noGrp="1"/>
          </p:cNvSpPr>
          <p:nvPr>
            <p:ph idx="1"/>
          </p:nvPr>
        </p:nvSpPr>
        <p:spPr/>
        <p:txBody>
          <a:bodyPr/>
          <a:lstStyle/>
          <a:p>
            <a:pPr>
              <a:buFontTx/>
              <a:buChar char="-"/>
            </a:pPr>
            <a:r>
              <a:rPr lang="fr-FR" dirty="0"/>
              <a:t>Les 4 colonnes de données sont bel et bien utiles.</a:t>
            </a:r>
          </a:p>
          <a:p>
            <a:pPr>
              <a:buFontTx/>
              <a:buChar char="-"/>
            </a:pPr>
            <a:r>
              <a:rPr lang="fr-FR" dirty="0"/>
              <a:t>Le lien entre </a:t>
            </a:r>
            <a:r>
              <a:rPr lang="fr-FR" dirty="0" err="1"/>
              <a:t>sepal_lenght</a:t>
            </a:r>
            <a:r>
              <a:rPr lang="fr-FR" dirty="0"/>
              <a:t> – </a:t>
            </a:r>
            <a:r>
              <a:rPr lang="fr-FR" dirty="0" err="1"/>
              <a:t>petal_width</a:t>
            </a:r>
            <a:r>
              <a:rPr lang="fr-FR" dirty="0"/>
              <a:t>, </a:t>
            </a:r>
            <a:r>
              <a:rPr lang="fr-FR" dirty="0" err="1"/>
              <a:t>sepal_width</a:t>
            </a:r>
            <a:r>
              <a:rPr lang="fr-FR" dirty="0"/>
              <a:t> – </a:t>
            </a:r>
            <a:r>
              <a:rPr lang="fr-FR" dirty="0" err="1"/>
              <a:t>petal_lenght</a:t>
            </a:r>
            <a:r>
              <a:rPr lang="fr-FR" dirty="0"/>
              <a:t> et </a:t>
            </a:r>
            <a:r>
              <a:rPr lang="fr-FR" dirty="0" err="1"/>
              <a:t>petal_lenght</a:t>
            </a:r>
            <a:r>
              <a:rPr lang="fr-FR" dirty="0"/>
              <a:t> – </a:t>
            </a:r>
            <a:r>
              <a:rPr lang="fr-FR" dirty="0" err="1"/>
              <a:t>petal_width</a:t>
            </a:r>
            <a:r>
              <a:rPr lang="fr-FR" dirty="0"/>
              <a:t> permet la meilleur disparité des données</a:t>
            </a:r>
          </a:p>
        </p:txBody>
      </p:sp>
    </p:spTree>
    <p:extLst>
      <p:ext uri="{BB962C8B-B14F-4D97-AF65-F5344CB8AC3E}">
        <p14:creationId xmlns:p14="http://schemas.microsoft.com/office/powerpoint/2010/main" val="34182097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D27573B-76CA-F12E-C959-A5B980E65422}"/>
              </a:ext>
            </a:extLst>
          </p:cNvPr>
          <p:cNvSpPr>
            <a:spLocks noGrp="1"/>
          </p:cNvSpPr>
          <p:nvPr>
            <p:ph type="title"/>
          </p:nvPr>
        </p:nvSpPr>
        <p:spPr/>
        <p:txBody>
          <a:bodyPr/>
          <a:lstStyle/>
          <a:p>
            <a:r>
              <a:rPr lang="fr-FR" dirty="0"/>
              <a:t>Choix du model</a:t>
            </a:r>
          </a:p>
        </p:txBody>
      </p:sp>
      <p:sp>
        <p:nvSpPr>
          <p:cNvPr id="3" name="Espace réservé du contenu 2">
            <a:extLst>
              <a:ext uri="{FF2B5EF4-FFF2-40B4-BE49-F238E27FC236}">
                <a16:creationId xmlns:a16="http://schemas.microsoft.com/office/drawing/2014/main" id="{B00B9F6C-08E9-ABD0-73E8-E59C063ADFEB}"/>
              </a:ext>
            </a:extLst>
          </p:cNvPr>
          <p:cNvSpPr>
            <a:spLocks noGrp="1"/>
          </p:cNvSpPr>
          <p:nvPr>
            <p:ph idx="1"/>
          </p:nvPr>
        </p:nvSpPr>
        <p:spPr/>
        <p:txBody>
          <a:bodyPr>
            <a:normAutofit fontScale="70000" lnSpcReduction="20000"/>
          </a:bodyPr>
          <a:lstStyle/>
          <a:p>
            <a:pPr marL="0" indent="0">
              <a:buNone/>
            </a:pPr>
            <a:r>
              <a:rPr lang="fr-FR" dirty="0" err="1"/>
              <a:t>Definition</a:t>
            </a:r>
            <a:r>
              <a:rPr lang="fr-FR" dirty="0"/>
              <a:t> de la tâche : </a:t>
            </a:r>
            <a:r>
              <a:rPr lang="fr-FR" dirty="0" err="1"/>
              <a:t>Probléme</a:t>
            </a:r>
            <a:r>
              <a:rPr lang="fr-FR" dirty="0"/>
              <a:t> de classification. Voici donc les </a:t>
            </a:r>
            <a:r>
              <a:rPr lang="fr-FR" dirty="0" err="1"/>
              <a:t>models</a:t>
            </a:r>
            <a:r>
              <a:rPr lang="fr-FR" dirty="0"/>
              <a:t> utilisable dans ce cas : </a:t>
            </a:r>
          </a:p>
          <a:p>
            <a:r>
              <a:rPr lang="fr-FR" b="1" dirty="0"/>
              <a:t>Arbres de décision</a:t>
            </a:r>
            <a:r>
              <a:rPr lang="fr-FR" dirty="0"/>
              <a:t> : Faciles à interpréter et à visualiser. Ils peuvent capturer des relations non linéaires et sont utiles pour comprendre l'importance des caractéristiques.</a:t>
            </a:r>
          </a:p>
          <a:p>
            <a:r>
              <a:rPr lang="fr-FR" b="1" dirty="0"/>
              <a:t>Forêts aléatoires</a:t>
            </a:r>
            <a:r>
              <a:rPr lang="fr-FR" dirty="0"/>
              <a:t> : Une extension des arbres de décision qui améliore la précision en créant un ensemble de modèles. Elles sont robustes et peuvent gérer des relations complexes.</a:t>
            </a:r>
          </a:p>
          <a:p>
            <a:r>
              <a:rPr lang="fr-FR" b="1" dirty="0"/>
              <a:t>Machines à vecteurs de support (SVM)</a:t>
            </a:r>
            <a:r>
              <a:rPr lang="fr-FR" dirty="0"/>
              <a:t> : Efficaces dans les espaces de grande dimension et lorsque le nombre de caractéristiques est supérieur au nombre d'échantillons. Elles sont efficaces pour les problèmes de classification binaire et multi-classe.</a:t>
            </a:r>
          </a:p>
          <a:p>
            <a:r>
              <a:rPr lang="fr-FR" b="1" dirty="0"/>
              <a:t>Régression logistique</a:t>
            </a:r>
            <a:r>
              <a:rPr lang="fr-FR" dirty="0"/>
              <a:t> : Bien que souvent utilisée pour la classification binaire, elle peut être étendue à la classification multi-classe. Elle est simple et efficace lorsque les relations entre les caractéristiques et les classes sont principalement linéaires.</a:t>
            </a:r>
          </a:p>
          <a:p>
            <a:r>
              <a:rPr lang="fr-FR" b="1" dirty="0"/>
              <a:t>K-plus proches voisins (KNN)</a:t>
            </a:r>
            <a:r>
              <a:rPr lang="fr-FR" dirty="0"/>
              <a:t> : Simple et intuitif, ce modèle peut être efficace lorsque les classes sont bien séparées dans l'espace des caractéristiques.</a:t>
            </a:r>
          </a:p>
        </p:txBody>
      </p:sp>
    </p:spTree>
    <p:extLst>
      <p:ext uri="{BB962C8B-B14F-4D97-AF65-F5344CB8AC3E}">
        <p14:creationId xmlns:p14="http://schemas.microsoft.com/office/powerpoint/2010/main" val="3736906821"/>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125</TotalTime>
  <Words>1208</Words>
  <Application>Microsoft Office PowerPoint</Application>
  <PresentationFormat>Grand écran</PresentationFormat>
  <Paragraphs>77</Paragraphs>
  <Slides>18</Slides>
  <Notes>4</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18</vt:i4>
      </vt:variant>
    </vt:vector>
  </HeadingPairs>
  <TitlesOfParts>
    <vt:vector size="23" baseType="lpstr">
      <vt:lpstr>Aptos</vt:lpstr>
      <vt:lpstr>Aptos Display</vt:lpstr>
      <vt:lpstr>Arial</vt:lpstr>
      <vt:lpstr>Arial Unicode MS</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Analyse</vt:lpstr>
      <vt:lpstr>Présentation PowerPoint</vt:lpstr>
      <vt:lpstr>Présentation PowerPoint</vt:lpstr>
      <vt:lpstr>Conclusion : </vt:lpstr>
      <vt:lpstr>Présentation PowerPoint</vt:lpstr>
      <vt:lpstr>Présentation PowerPoint</vt:lpstr>
      <vt:lpstr>Présentation PowerPoint</vt:lpstr>
      <vt:lpstr>Conclusion : </vt:lpstr>
      <vt:lpstr>Choix du model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PREVOST DEBAISIEUX Valentin</dc:creator>
  <cp:lastModifiedBy>PREVOST DEBAISIEUX Valentin</cp:lastModifiedBy>
  <cp:revision>2</cp:revision>
  <dcterms:created xsi:type="dcterms:W3CDTF">2025-06-10T11:58:20Z</dcterms:created>
  <dcterms:modified xsi:type="dcterms:W3CDTF">2025-06-10T14:04:11Z</dcterms:modified>
</cp:coreProperties>
</file>